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5"/>
    <p:restoredTop sz="82486"/>
  </p:normalViewPr>
  <p:slideViewPr>
    <p:cSldViewPr snapToGrid="0" snapToObjects="1">
      <p:cViewPr varScale="1">
        <p:scale>
          <a:sx n="127" d="100"/>
          <a:sy n="127" d="100"/>
        </p:scale>
        <p:origin x="104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2885A6-7D2A-9344-A55B-F250E05F2F60}" type="datetimeFigureOut">
              <a:rPr kumimoji="1" lang="ko-KR" altLang="en-US" smtClean="0"/>
              <a:t>2026. 6. 20.</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15692F-0C39-574F-B4B9-133790A6EE83}" type="slidenum">
              <a:rPr kumimoji="1" lang="ko-KR" altLang="en-US" smtClean="0"/>
              <a:t>‹#›</a:t>
            </a:fld>
            <a:endParaRPr kumimoji="1" lang="ko-KR" altLang="en-US"/>
          </a:p>
        </p:txBody>
      </p:sp>
    </p:spTree>
    <p:extLst>
      <p:ext uri="{BB962C8B-B14F-4D97-AF65-F5344CB8AC3E}">
        <p14:creationId xmlns:p14="http://schemas.microsoft.com/office/powerpoint/2010/main" val="113123240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r>
              <a:rPr lang="en-US" altLang="ko-KR" b="0" i="0" dirty="0">
                <a:solidFill>
                  <a:srgbClr val="BCBEC4"/>
                </a:solidFill>
                <a:effectLst/>
                <a:highlight>
                  <a:srgbClr val="1E1F22"/>
                </a:highlight>
                <a:latin typeface="Helvetica" pitchFamily="2" charset="0"/>
              </a:rPr>
              <a:t>J</a:t>
            </a:r>
            <a:r>
              <a:rPr lang="en" altLang="ko-KR" b="0" i="0" dirty="0" err="1">
                <a:solidFill>
                  <a:srgbClr val="BCBEC4"/>
                </a:solidFill>
                <a:effectLst/>
                <a:highlight>
                  <a:srgbClr val="1E1F22"/>
                </a:highlight>
                <a:latin typeface="Helvetica" pitchFamily="2" charset="0"/>
              </a:rPr>
              <a:t>ihun</a:t>
            </a:r>
            <a:r>
              <a:rPr lang="en" altLang="ko-KR" b="0" i="0" dirty="0">
                <a:solidFill>
                  <a:srgbClr val="BCBEC4"/>
                </a:solidFill>
                <a:effectLst/>
                <a:highlight>
                  <a:srgbClr val="1E1F22"/>
                </a:highlight>
                <a:latin typeface="Helvetica" pitchFamily="2" charset="0"/>
              </a:rPr>
              <a:t> Jang from ETRI School. I compared an LSTM and a Transformer Encoder on AG News topic classification, under identical, controlled conditions.</a:t>
            </a:r>
          </a:p>
          <a:p>
            <a:br>
              <a:rPr lang="en" altLang="ko-KR" dirty="0"/>
            </a:b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1</a:t>
            </a:fld>
            <a:endParaRPr kumimoji="1" lang="ko-KR" altLang="en-US"/>
          </a:p>
        </p:txBody>
      </p:sp>
    </p:spTree>
    <p:extLst>
      <p:ext uri="{BB962C8B-B14F-4D97-AF65-F5344CB8AC3E}">
        <p14:creationId xmlns:p14="http://schemas.microsoft.com/office/powerpoint/2010/main" val="3175839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i="0" dirty="0">
                <a:solidFill>
                  <a:srgbClr val="BCBEC4"/>
                </a:solidFill>
                <a:effectLst/>
                <a:highlight>
                  <a:srgbClr val="1E1F22"/>
                </a:highlight>
                <a:latin typeface="Helvetica" pitchFamily="2" charset="0"/>
              </a:rPr>
              <a:t>My goal was not to maximize accuracy, but to explain why the two architectures differ. Both are trained from scratch, and I held everything identical except the encoder, so any difference can be attributed to the architecture. I ask how they differ in performance, convergence, data efficiency, and errors, and what causes it.</a:t>
            </a: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2</a:t>
            </a:fld>
            <a:endParaRPr kumimoji="1" lang="ko-KR" altLang="en-US"/>
          </a:p>
        </p:txBody>
      </p:sp>
    </p:spTree>
    <p:extLst>
      <p:ext uri="{BB962C8B-B14F-4D97-AF65-F5344CB8AC3E}">
        <p14:creationId xmlns:p14="http://schemas.microsoft.com/office/powerpoint/2010/main" val="123933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i="0" dirty="0">
                <a:solidFill>
                  <a:srgbClr val="BCBEC4"/>
                </a:solidFill>
                <a:effectLst/>
                <a:highlight>
                  <a:srgbClr val="1E1F22"/>
                </a:highlight>
                <a:latin typeface="Helvetica" pitchFamily="2" charset="0"/>
              </a:rPr>
              <a:t>AG News, split into 108,000 training, 12,000 validation, and 7,600 test examples, with four balanced classes. Preprocessing is shared: word-level tokens, a vocabulary built from training only to prevent leakage, and max length 128 with padding masked out.</a:t>
            </a: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3</a:t>
            </a:fld>
            <a:endParaRPr kumimoji="1" lang="ko-KR" altLang="en-US"/>
          </a:p>
        </p:txBody>
      </p:sp>
    </p:spTree>
    <p:extLst>
      <p:ext uri="{BB962C8B-B14F-4D97-AF65-F5344CB8AC3E}">
        <p14:creationId xmlns:p14="http://schemas.microsoft.com/office/powerpoint/2010/main" val="2962239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i="0" dirty="0">
                <a:solidFill>
                  <a:srgbClr val="BCBEC4"/>
                </a:solidFill>
                <a:effectLst/>
                <a:highlight>
                  <a:srgbClr val="1E1F22"/>
                </a:highlight>
                <a:latin typeface="Helvetica" pitchFamily="2" charset="0"/>
              </a:rPr>
              <a:t>Now the models. Both share one backbone: Embedding, Encoder, masked mean pooling, and a Linear layer; I swapped only the encoder, so the difference is purely in how the encoder builds each token's representation. The LSTM is recurrent: it reads the sequence step by step, carrying a hidden state that compresses everything seen so far, so information has to pass through a single fixed-size channel; in practice this lets it lean heavily on a few strong tokens. The Transformer uses self-attention: every token attends to every other token directly and in parallel, so each representation aggregates the whole sequence with no sequential bottleneck, spreading evidence across many tokens. This contrast is what I use to explain the results: the Transformer aggregates evidence broadly, while the LSTM concentrates it. The parameter counts are within about 14 percent, 3.22 versus 2.83 million, so this is a comparison of mechanism, not size.</a:t>
            </a: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4</a:t>
            </a:fld>
            <a:endParaRPr kumimoji="1" lang="ko-KR" altLang="en-US"/>
          </a:p>
        </p:txBody>
      </p:sp>
    </p:spTree>
    <p:extLst>
      <p:ext uri="{BB962C8B-B14F-4D97-AF65-F5344CB8AC3E}">
        <p14:creationId xmlns:p14="http://schemas.microsoft.com/office/powerpoint/2010/main" val="3971949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r>
              <a:rPr lang="en" altLang="ko-KR" b="0" i="0" dirty="0">
                <a:solidFill>
                  <a:srgbClr val="BCBEC4"/>
                </a:solidFill>
                <a:effectLst/>
                <a:highlight>
                  <a:srgbClr val="1E1F22"/>
                </a:highlight>
                <a:latin typeface="Helvetica" pitchFamily="2" charset="0"/>
              </a:rPr>
              <a:t>For a fair comparison, the only variable is the encoder; everything else is fixed. I trained with Adam, learning rate 0.001, batch 64, up to 8 epochs, seed 42, selecting on validation and testing once. I also ran a data-efficiency ablation at 5, 25, 50, and 100 percent, measuring accuracy, macro F1, loss, and confusion matrices.</a:t>
            </a:r>
          </a:p>
          <a:p>
            <a:br>
              <a:rPr lang="en" altLang="ko-KR" dirty="0"/>
            </a:b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5</a:t>
            </a:fld>
            <a:endParaRPr kumimoji="1" lang="ko-KR" altLang="en-US"/>
          </a:p>
        </p:txBody>
      </p:sp>
    </p:spTree>
    <p:extLst>
      <p:ext uri="{BB962C8B-B14F-4D97-AF65-F5344CB8AC3E}">
        <p14:creationId xmlns:p14="http://schemas.microsoft.com/office/powerpoint/2010/main" val="325364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i="0" dirty="0">
                <a:solidFill>
                  <a:srgbClr val="BCBEC4"/>
                </a:solidFill>
                <a:effectLst/>
                <a:highlight>
                  <a:srgbClr val="1E1F22"/>
                </a:highlight>
                <a:latin typeface="Helvetica" pitchFamily="2" charset="0"/>
              </a:rPr>
              <a:t>The Transformer reached 0.910 accuracy versus the LSTM's 0.833, about 7.7 points; but the cause matters more than the number. Look at the loss curves: the LSTM's training loss falls almost to zero while its validation loss climbs from 0.5 to about 2.0, textbook overfitting, whereas the Transformer keeps validation loss flat and is already at 88 percent after the first epoch. This is the mechanism showing through. Because recurrence concentrates the decision on a few tokens, the LSTM ends up memorizing training-specific cues, fitting the training set but generalizing poorly; the Transformer, aggregating evidence across many tokens, has no single feature to latch onto and overfit, so it stays stable. Since I select the best checkpoint by validation, the LSTM's final model is taken from epoch 2. So the gap is a difference in generalization, and it comes straight from how each encoder aggregates information.</a:t>
            </a: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6</a:t>
            </a:fld>
            <a:endParaRPr kumimoji="1" lang="ko-KR" altLang="en-US"/>
          </a:p>
        </p:txBody>
      </p:sp>
    </p:spTree>
    <p:extLst>
      <p:ext uri="{BB962C8B-B14F-4D97-AF65-F5344CB8AC3E}">
        <p14:creationId xmlns:p14="http://schemas.microsoft.com/office/powerpoint/2010/main" val="806752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i="0" dirty="0">
                <a:solidFill>
                  <a:srgbClr val="BCBEC4"/>
                </a:solidFill>
                <a:effectLst/>
                <a:highlight>
                  <a:srgbClr val="1E1F22"/>
                </a:highlight>
                <a:latin typeface="Helvetica" pitchFamily="2" charset="0"/>
              </a:rPr>
              <a:t>Both models confuse Business and Sci/Tech the most, from shared vocabulary, semantic overlap. Of the 428 cases both got wrong, 61 percent are on that boundary, ambiguous labels, so it's the task, not the model. But the LSTM alone was wrong on 841 cases, 3.2 times the Transformer, spread across all classes, a sign of weak generalization even on easy examples.</a:t>
            </a: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7</a:t>
            </a:fld>
            <a:endParaRPr kumimoji="1" lang="ko-KR" altLang="en-US"/>
          </a:p>
        </p:txBody>
      </p:sp>
    </p:spTree>
    <p:extLst>
      <p:ext uri="{BB962C8B-B14F-4D97-AF65-F5344CB8AC3E}">
        <p14:creationId xmlns:p14="http://schemas.microsoft.com/office/powerpoint/2010/main" val="3476728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i="0" dirty="0">
                <a:solidFill>
                  <a:srgbClr val="BCBEC4"/>
                </a:solidFill>
                <a:effectLst/>
                <a:highlight>
                  <a:srgbClr val="1E1F22"/>
                </a:highlight>
                <a:latin typeface="Helvetica" pitchFamily="2" charset="0"/>
              </a:rPr>
              <a:t>Next, the data-efficiency ablation. I expected the Transformer to need more data; the opposite held. Its accuracy rises monotonically, from 0.798 at 5 percent to 0.910 at full data, while the LSTM peaks at just 25 percent, 0.846, and then flattens. Again, this follows from the mechanism: once the LSTM has enough data to lock onto its preferred tokens, more data does not help, because the limit is its concentrated representation, not the amount of data. The Transformer's distributed representation keeps absorbing new evidence, so it keeps scaling. And since it led even at 5 percent, I rejected my hypothesis that it is more data-hungry.</a:t>
            </a: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8</a:t>
            </a:fld>
            <a:endParaRPr kumimoji="1" lang="ko-KR" altLang="en-US"/>
          </a:p>
        </p:txBody>
      </p:sp>
    </p:spTree>
    <p:extLst>
      <p:ext uri="{BB962C8B-B14F-4D97-AF65-F5344CB8AC3E}">
        <p14:creationId xmlns:p14="http://schemas.microsoft.com/office/powerpoint/2010/main" val="3151057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r>
              <a:rPr lang="en" altLang="ko-KR" b="0" i="0" dirty="0">
                <a:solidFill>
                  <a:srgbClr val="BCBEC4"/>
                </a:solidFill>
                <a:effectLst/>
                <a:highlight>
                  <a:srgbClr val="1E1F22"/>
                </a:highlight>
                <a:latin typeface="Helvetica" pitchFamily="2" charset="0"/>
              </a:rPr>
              <a:t>I probed the mechanism directly. Removing positional encoding left accuracy unchanged, 0.910 versus 0.911, so the task is essentially bag-of-words; word order barely matters. Then, on one Sports article, I compared which tokens each model relied on. The LSTM put almost all of its weight on "giddy", an off-topic word, and misclassified the article; the Transformer spread its weight over topical tokens like medley and 400, and was correct. This is the mechanism caught in the act: the LSTM bet almost everything on a single token, while the Transformer spread its bet across the evidence, which is exactly why it is more robust and generalizes better.</a:t>
            </a:r>
          </a:p>
          <a:p>
            <a:br>
              <a:rPr lang="en" altLang="ko-KR" dirty="0"/>
            </a:b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9</a:t>
            </a:fld>
            <a:endParaRPr kumimoji="1" lang="ko-KR" altLang="en-US"/>
          </a:p>
        </p:txBody>
      </p:sp>
    </p:spTree>
    <p:extLst>
      <p:ext uri="{BB962C8B-B14F-4D97-AF65-F5344CB8AC3E}">
        <p14:creationId xmlns:p14="http://schemas.microsoft.com/office/powerpoint/2010/main" val="801738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i="0" dirty="0">
                <a:solidFill>
                  <a:srgbClr val="BCBEC4"/>
                </a:solidFill>
                <a:effectLst/>
                <a:highlight>
                  <a:srgbClr val="1E1F22"/>
                </a:highlight>
                <a:latin typeface="Helvetica" pitchFamily="2" charset="0"/>
              </a:rPr>
              <a:t>To conclude. Under a controlled comparison the Transformer won, 0.910 to 0.833, and the cause traces cleanly back to mechanism. Self-attention aggregates evidence across many tokens, which makes it robust, keeps its validation loss flat, and lets it scale with data; recurrence funnels the decision through a sequential bottleneck onto a few tokens, which causes overfitting and early saturation. So one mechanistic difference explains every result: the accuracy gap, the loss curves, and the data-efficiency curve. I also confirmed the task is bag-of-words, so the gap is about robustness, not word order. The main limitation is the single seed; future work is multiple seeds, stronger LSTM regularization, and order-sensitive tasks. Thank you.</a:t>
            </a:r>
            <a:endParaRPr kumimoji="1" lang="ko-KR" altLang="en-US" dirty="0"/>
          </a:p>
        </p:txBody>
      </p:sp>
      <p:sp>
        <p:nvSpPr>
          <p:cNvPr id="4" name="슬라이드 번호 개체 틀 3"/>
          <p:cNvSpPr>
            <a:spLocks noGrp="1"/>
          </p:cNvSpPr>
          <p:nvPr>
            <p:ph type="sldNum" sz="quarter" idx="5"/>
          </p:nvPr>
        </p:nvSpPr>
        <p:spPr/>
        <p:txBody>
          <a:bodyPr/>
          <a:lstStyle/>
          <a:p>
            <a:fld id="{D415692F-0C39-574F-B4B9-133790A6EE83}" type="slidenum">
              <a:rPr kumimoji="1" lang="ko-KR" altLang="en-US" smtClean="0"/>
              <a:t>10</a:t>
            </a:fld>
            <a:endParaRPr kumimoji="1" lang="ko-KR" altLang="en-US"/>
          </a:p>
        </p:txBody>
      </p:sp>
    </p:spTree>
    <p:extLst>
      <p:ext uri="{BB962C8B-B14F-4D97-AF65-F5344CB8AC3E}">
        <p14:creationId xmlns:p14="http://schemas.microsoft.com/office/powerpoint/2010/main" val="1663426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21792"/>
            <a:ext cx="7315200" cy="320040"/>
          </a:xfrm>
          <a:prstGeom prst="rect">
            <a:avLst/>
          </a:prstGeom>
          <a:noFill/>
        </p:spPr>
        <p:txBody>
          <a:bodyPr wrap="square" lIns="0" tIns="0" rIns="0" bIns="0" anchor="t">
            <a:spAutoFit/>
          </a:bodyPr>
          <a:lstStyle/>
          <a:p>
            <a:r>
              <a:rPr sz="1400" b="1">
                <a:solidFill>
                  <a:srgbClr val="1D4ED8"/>
                </a:solidFill>
                <a:latin typeface="Pretendard"/>
              </a:rPr>
              <a:t>DEEP LEARNING · TERM PROJECT</a:t>
            </a:r>
          </a:p>
        </p:txBody>
      </p:sp>
      <p:sp>
        <p:nvSpPr>
          <p:cNvPr id="4" name="TextBox 3"/>
          <p:cNvSpPr txBox="1"/>
          <p:nvPr/>
        </p:nvSpPr>
        <p:spPr>
          <a:xfrm>
            <a:off x="8595360" y="621792"/>
            <a:ext cx="2743200" cy="320040"/>
          </a:xfrm>
          <a:prstGeom prst="rect">
            <a:avLst/>
          </a:prstGeom>
          <a:noFill/>
        </p:spPr>
        <p:txBody>
          <a:bodyPr wrap="square" lIns="0" tIns="0" rIns="0" bIns="0" anchor="t">
            <a:spAutoFit/>
          </a:bodyPr>
          <a:lstStyle/>
          <a:p>
            <a:pPr algn="r"/>
            <a:r>
              <a:rPr sz="1400" b="0">
                <a:solidFill>
                  <a:srgbClr val="6B7280"/>
                </a:solidFill>
                <a:latin typeface="Pretendard"/>
              </a:rPr>
              <a:t>2026</a:t>
            </a:r>
          </a:p>
        </p:txBody>
      </p:sp>
      <p:cxnSp>
        <p:nvCxnSpPr>
          <p:cNvPr id="5" name="Connector 4"/>
          <p:cNvCxnSpPr/>
          <p:nvPr/>
        </p:nvCxnSpPr>
        <p:spPr>
          <a:xfrm>
            <a:off x="822960" y="1097280"/>
            <a:ext cx="10515600" cy="0"/>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2057400"/>
            <a:ext cx="10515600" cy="914400"/>
          </a:xfrm>
          <a:prstGeom prst="rect">
            <a:avLst/>
          </a:prstGeom>
          <a:noFill/>
        </p:spPr>
        <p:txBody>
          <a:bodyPr wrap="square" lIns="0" tIns="0" rIns="0" bIns="0" anchor="t">
            <a:spAutoFit/>
          </a:bodyPr>
          <a:lstStyle/>
          <a:p>
            <a:r>
              <a:rPr sz="5000" b="1">
                <a:solidFill>
                  <a:srgbClr val="111827"/>
                </a:solidFill>
                <a:latin typeface="Pretendard"/>
              </a:rPr>
              <a:t>LSTM </a:t>
            </a:r>
            <a:r>
              <a:rPr sz="5000" b="1">
                <a:solidFill>
                  <a:srgbClr val="1D4ED8"/>
                </a:solidFill>
                <a:latin typeface="Pretendard"/>
              </a:rPr>
              <a:t>vs</a:t>
            </a:r>
            <a:r>
              <a:rPr sz="5000" b="1">
                <a:solidFill>
                  <a:srgbClr val="111827"/>
                </a:solidFill>
                <a:latin typeface="Pretendard"/>
              </a:rPr>
              <a:t> Transformer</a:t>
            </a:r>
          </a:p>
        </p:txBody>
      </p:sp>
      <p:sp>
        <p:nvSpPr>
          <p:cNvPr id="7" name="TextBox 6"/>
          <p:cNvSpPr txBox="1"/>
          <p:nvPr/>
        </p:nvSpPr>
        <p:spPr>
          <a:xfrm>
            <a:off x="822960" y="3200400"/>
            <a:ext cx="10515600" cy="548640"/>
          </a:xfrm>
          <a:prstGeom prst="rect">
            <a:avLst/>
          </a:prstGeom>
          <a:noFill/>
        </p:spPr>
        <p:txBody>
          <a:bodyPr wrap="square" lIns="0" tIns="0" rIns="0" bIns="0" anchor="t">
            <a:spAutoFit/>
          </a:bodyPr>
          <a:lstStyle/>
          <a:p>
            <a:r>
              <a:rPr sz="1900" b="0">
                <a:solidFill>
                  <a:srgbClr val="6B7280"/>
                </a:solidFill>
                <a:latin typeface="Pretendard"/>
              </a:rPr>
              <a:t>Two sequence encoders compared on AG News 4-class topic classification</a:t>
            </a:r>
          </a:p>
        </p:txBody>
      </p:sp>
      <p:cxnSp>
        <p:nvCxnSpPr>
          <p:cNvPr id="8" name="Connector 7"/>
          <p:cNvCxnSpPr/>
          <p:nvPr/>
        </p:nvCxnSpPr>
        <p:spPr>
          <a:xfrm>
            <a:off x="822960" y="4956048"/>
            <a:ext cx="10515600" cy="0"/>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5248656"/>
            <a:ext cx="1463040" cy="320040"/>
          </a:xfrm>
          <a:prstGeom prst="rect">
            <a:avLst/>
          </a:prstGeom>
          <a:noFill/>
        </p:spPr>
        <p:txBody>
          <a:bodyPr wrap="square" lIns="0" tIns="0" rIns="0" bIns="0" anchor="t">
            <a:spAutoFit/>
          </a:bodyPr>
          <a:lstStyle/>
          <a:p>
            <a:r>
              <a:rPr sz="1500" b="1">
                <a:solidFill>
                  <a:srgbClr val="1D4ED8"/>
                </a:solidFill>
                <a:latin typeface="Pretendard"/>
              </a:rPr>
              <a:t>Team</a:t>
            </a:r>
          </a:p>
        </p:txBody>
      </p:sp>
      <p:sp>
        <p:nvSpPr>
          <p:cNvPr id="10" name="TextBox 9"/>
          <p:cNvSpPr txBox="1"/>
          <p:nvPr/>
        </p:nvSpPr>
        <p:spPr>
          <a:xfrm>
            <a:off x="2286000" y="5230368"/>
            <a:ext cx="8229600" cy="365760"/>
          </a:xfrm>
          <a:prstGeom prst="rect">
            <a:avLst/>
          </a:prstGeom>
          <a:noFill/>
        </p:spPr>
        <p:txBody>
          <a:bodyPr wrap="square" lIns="0" tIns="0" rIns="0" bIns="0" anchor="t">
            <a:spAutoFit/>
          </a:bodyPr>
          <a:lstStyle/>
          <a:p>
            <a:r>
              <a:rPr sz="1700" b="1">
                <a:solidFill>
                  <a:srgbClr val="111827"/>
                </a:solidFill>
                <a:latin typeface="Pretendard"/>
              </a:rPr>
              <a:t>Jihun Jang</a:t>
            </a:r>
            <a:r>
              <a:rPr sz="1300" b="0">
                <a:solidFill>
                  <a:srgbClr val="6B7280"/>
                </a:solidFill>
                <a:latin typeface="Pretendard"/>
              </a:rPr>
              <a:t>   (ETRI School · 02521122)</a:t>
            </a:r>
          </a:p>
        </p:txBody>
      </p:sp>
      <p:sp>
        <p:nvSpPr>
          <p:cNvPr id="11" name="TextBox 10"/>
          <p:cNvSpPr txBox="1"/>
          <p:nvPr/>
        </p:nvSpPr>
        <p:spPr>
          <a:xfrm>
            <a:off x="822960" y="5833872"/>
            <a:ext cx="1463040" cy="320040"/>
          </a:xfrm>
          <a:prstGeom prst="rect">
            <a:avLst/>
          </a:prstGeom>
          <a:noFill/>
        </p:spPr>
        <p:txBody>
          <a:bodyPr wrap="square" lIns="0" tIns="0" rIns="0" bIns="0" anchor="t">
            <a:spAutoFit/>
          </a:bodyPr>
          <a:lstStyle/>
          <a:p>
            <a:r>
              <a:rPr sz="1500" b="1">
                <a:solidFill>
                  <a:srgbClr val="1D4ED8"/>
                </a:solidFill>
                <a:latin typeface="Pretendard"/>
              </a:rPr>
              <a:t>Affiliation</a:t>
            </a:r>
          </a:p>
        </p:txBody>
      </p:sp>
      <p:sp>
        <p:nvSpPr>
          <p:cNvPr id="12" name="TextBox 11"/>
          <p:cNvSpPr txBox="1"/>
          <p:nvPr/>
        </p:nvSpPr>
        <p:spPr>
          <a:xfrm>
            <a:off x="2286000" y="5815584"/>
            <a:ext cx="8229600" cy="320040"/>
          </a:xfrm>
          <a:prstGeom prst="rect">
            <a:avLst/>
          </a:prstGeom>
          <a:noFill/>
        </p:spPr>
        <p:txBody>
          <a:bodyPr wrap="square" lIns="0" tIns="0" rIns="0" bIns="0" anchor="t">
            <a:spAutoFit/>
          </a:bodyPr>
          <a:lstStyle/>
          <a:p>
            <a:r>
              <a:rPr sz="1600" b="0">
                <a:solidFill>
                  <a:srgbClr val="374151"/>
                </a:solidFill>
                <a:latin typeface="Pretendard SemiBold"/>
              </a:rPr>
              <a:t>University of Science and Technology · ETRI School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1">
                <a:solidFill>
                  <a:srgbClr val="1D4ED8"/>
                </a:solidFill>
                <a:latin typeface="Pretendard"/>
              </a:rPr>
              <a:t>Background</a:t>
            </a:r>
            <a:r>
              <a:rPr sz="1250" b="0">
                <a:solidFill>
                  <a:srgbClr val="BFC6D0"/>
                </a:solidFill>
                <a:latin typeface="Pretendard"/>
              </a:rPr>
              <a:t>     Method     Results     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Not an accuracy race: </a:t>
            </a:r>
            <a:r>
              <a:rPr sz="2100" b="1">
                <a:solidFill>
                  <a:srgbClr val="1D4ED8"/>
                </a:solidFill>
                <a:latin typeface="Pretendard"/>
              </a:rPr>
              <a:t>we explain WHY the two architectures differ</a:t>
            </a:r>
          </a:p>
        </p:txBody>
      </p:sp>
      <p:sp>
        <p:nvSpPr>
          <p:cNvPr id="4" name="TextBox 3"/>
          <p:cNvSpPr txBox="1"/>
          <p:nvPr/>
        </p:nvSpPr>
        <p:spPr>
          <a:xfrm>
            <a:off x="457200" y="1463040"/>
            <a:ext cx="11277295" cy="4754880"/>
          </a:xfrm>
          <a:prstGeom prst="rect">
            <a:avLst/>
          </a:prstGeom>
          <a:noFill/>
        </p:spPr>
        <p:txBody>
          <a:bodyPr wrap="square" lIns="0" tIns="0" rIns="0" bIns="0" anchor="t">
            <a:spAutoFit/>
          </a:bodyPr>
          <a:lstStyle/>
          <a:p>
            <a:pPr>
              <a:spcBef>
                <a:spcPts val="0"/>
              </a:spcBef>
              <a:spcAft>
                <a:spcPts val="700"/>
              </a:spcAft>
            </a:pPr>
            <a:r>
              <a:rPr sz="1650" b="1">
                <a:solidFill>
                  <a:srgbClr val="1D4ED8"/>
                </a:solidFill>
                <a:latin typeface="Pretendard"/>
              </a:rPr>
              <a:t>Task</a:t>
            </a:r>
          </a:p>
          <a:p>
            <a:pPr marL="274320" indent="-274320">
              <a:lnSpc>
                <a:spcPct val="125000"/>
              </a:lnSpc>
              <a:spcAft>
                <a:spcPts val="500"/>
              </a:spcAft>
              <a:buFont typeface="Arial"/>
              <a:buChar char="•"/>
            </a:pPr>
            <a:r>
              <a:rPr sz="1500" b="1">
                <a:solidFill>
                  <a:srgbClr val="111827"/>
                </a:solidFill>
                <a:latin typeface="Pretendard"/>
              </a:rPr>
              <a:t>AG News 4-class news topic classification</a:t>
            </a:r>
            <a:r>
              <a:rPr sz="1500" b="0">
                <a:solidFill>
                  <a:srgbClr val="374151"/>
                </a:solidFill>
                <a:latin typeface="Pretendard"/>
              </a:rPr>
              <a:t> (World·Sports·Business·Sci-Tech)</a:t>
            </a:r>
          </a:p>
          <a:p>
            <a:pPr marL="274320" indent="-274320">
              <a:lnSpc>
                <a:spcPct val="125000"/>
              </a:lnSpc>
              <a:spcAft>
                <a:spcPts val="500"/>
              </a:spcAft>
              <a:buFont typeface="Arial"/>
              <a:buChar char="•"/>
            </a:pPr>
            <a:r>
              <a:rPr sz="1500" b="0">
                <a:solidFill>
                  <a:srgbClr val="374151"/>
                </a:solidFill>
                <a:latin typeface="Pretendard"/>
              </a:rPr>
              <a:t>Both LSTM and Transformer Encoder trained from scratch</a:t>
            </a:r>
          </a:p>
          <a:p>
            <a:pPr>
              <a:spcBef>
                <a:spcPts val="1500"/>
              </a:spcBef>
              <a:spcAft>
                <a:spcPts val="700"/>
              </a:spcAft>
            </a:pPr>
            <a:r>
              <a:rPr sz="1650" b="1">
                <a:solidFill>
                  <a:srgbClr val="1D4ED8"/>
                </a:solidFill>
                <a:latin typeface="Pretendard"/>
              </a:rPr>
              <a:t>Method</a:t>
            </a:r>
          </a:p>
          <a:p>
            <a:pPr marL="274320" indent="-274320">
              <a:lnSpc>
                <a:spcPct val="125000"/>
              </a:lnSpc>
              <a:spcAft>
                <a:spcPts val="500"/>
              </a:spcAft>
              <a:buFont typeface="Arial"/>
              <a:buChar char="•"/>
            </a:pPr>
            <a:r>
              <a:rPr sz="1500" b="1">
                <a:solidFill>
                  <a:srgbClr val="111827"/>
                </a:solidFill>
                <a:latin typeface="Pretendard"/>
              </a:rPr>
              <a:t>Data, preprocessing, vocabulary, sequence length, training budget</a:t>
            </a:r>
            <a:r>
              <a:rPr sz="1500" b="0">
                <a:solidFill>
                  <a:srgbClr val="374151"/>
                </a:solidFill>
                <a:latin typeface="Pretendard"/>
              </a:rPr>
              <a:t> held identical</a:t>
            </a:r>
          </a:p>
          <a:p>
            <a:pPr marL="274320" indent="-274320">
              <a:lnSpc>
                <a:spcPct val="125000"/>
              </a:lnSpc>
              <a:spcAft>
                <a:spcPts val="500"/>
              </a:spcAft>
              <a:buFont typeface="Arial"/>
              <a:buChar char="•"/>
            </a:pPr>
            <a:r>
              <a:rPr sz="1500" b="0">
                <a:solidFill>
                  <a:srgbClr val="374151"/>
                </a:solidFill>
                <a:latin typeface="Pretendard"/>
              </a:rPr>
              <a:t>Only the encoder differs by architecture</a:t>
            </a:r>
          </a:p>
          <a:p>
            <a:pPr>
              <a:spcBef>
                <a:spcPts val="1500"/>
              </a:spcBef>
              <a:spcAft>
                <a:spcPts val="700"/>
              </a:spcAft>
            </a:pPr>
            <a:r>
              <a:rPr sz="1650" b="1">
                <a:solidFill>
                  <a:srgbClr val="1D4ED8"/>
                </a:solidFill>
                <a:latin typeface="Pretendard"/>
              </a:rPr>
              <a:t>Question</a:t>
            </a:r>
          </a:p>
          <a:p>
            <a:pPr marL="274320" indent="-274320">
              <a:lnSpc>
                <a:spcPct val="125000"/>
              </a:lnSpc>
              <a:spcAft>
                <a:spcPts val="500"/>
              </a:spcAft>
              <a:buFont typeface="Arial"/>
              <a:buChar char="•"/>
            </a:pPr>
            <a:r>
              <a:rPr sz="1500" b="0">
                <a:solidFill>
                  <a:srgbClr val="374151"/>
                </a:solidFill>
                <a:latin typeface="Pretendard"/>
              </a:rPr>
              <a:t>How do performance, convergence, data efficiency, and error patterns differ?</a:t>
            </a:r>
          </a:p>
          <a:p>
            <a:pPr marL="274320" indent="-274320">
              <a:lnSpc>
                <a:spcPct val="125000"/>
              </a:lnSpc>
              <a:spcAft>
                <a:spcPts val="500"/>
              </a:spcAft>
              <a:buFont typeface="Arial"/>
              <a:buChar char="•"/>
            </a:pPr>
            <a:r>
              <a:rPr sz="1500" b="0">
                <a:solidFill>
                  <a:srgbClr val="374151"/>
                </a:solidFill>
                <a:latin typeface="Pretendard"/>
              </a:rPr>
              <a:t>And what causes the difference?</a:t>
            </a:r>
          </a:p>
        </p:txBody>
      </p:sp>
      <p:sp>
        <p:nvSpPr>
          <p:cNvPr id="5" name="TextBox 4"/>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1">
                <a:solidFill>
                  <a:srgbClr val="1D4ED8"/>
                </a:solidFill>
                <a:latin typeface="Pretendard"/>
              </a:rPr>
              <a:t>Background</a:t>
            </a:r>
            <a:r>
              <a:rPr sz="1250" b="0">
                <a:solidFill>
                  <a:srgbClr val="BFC6D0"/>
                </a:solidFill>
                <a:latin typeface="Pretendard"/>
              </a:rPr>
              <a:t>     Method     Results     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Balanced 4-class, vocabulary </a:t>
            </a:r>
            <a:r>
              <a:rPr sz="2100" b="1">
                <a:solidFill>
                  <a:srgbClr val="1D4ED8"/>
                </a:solidFill>
                <a:latin typeface="Pretendard"/>
              </a:rPr>
              <a:t>built from train only</a:t>
            </a:r>
            <a:r>
              <a:rPr sz="2100" b="1">
                <a:solidFill>
                  <a:srgbClr val="111827"/>
                </a:solidFill>
                <a:latin typeface="Pretendard"/>
              </a:rPr>
              <a:t> (prevents leakage)</a:t>
            </a:r>
          </a:p>
        </p:txBody>
      </p:sp>
      <p:sp>
        <p:nvSpPr>
          <p:cNvPr id="4" name="TextBox 3"/>
          <p:cNvSpPr txBox="1"/>
          <p:nvPr/>
        </p:nvSpPr>
        <p:spPr>
          <a:xfrm>
            <a:off x="457200" y="1463040"/>
            <a:ext cx="11277295" cy="4754880"/>
          </a:xfrm>
          <a:prstGeom prst="rect">
            <a:avLst/>
          </a:prstGeom>
          <a:noFill/>
        </p:spPr>
        <p:txBody>
          <a:bodyPr wrap="square" lIns="0" tIns="0" rIns="0" bIns="0" anchor="t">
            <a:spAutoFit/>
          </a:bodyPr>
          <a:lstStyle/>
          <a:p>
            <a:pPr>
              <a:spcBef>
                <a:spcPts val="0"/>
              </a:spcBef>
              <a:spcAft>
                <a:spcPts val="700"/>
              </a:spcAft>
            </a:pPr>
            <a:r>
              <a:rPr sz="1650" b="1">
                <a:solidFill>
                  <a:srgbClr val="1D4ED8"/>
                </a:solidFill>
                <a:latin typeface="Pretendard"/>
              </a:rPr>
              <a:t>Split (seed 42)</a:t>
            </a:r>
          </a:p>
          <a:p>
            <a:pPr marL="274320" indent="-274320">
              <a:lnSpc>
                <a:spcPct val="125000"/>
              </a:lnSpc>
              <a:spcAft>
                <a:spcPts val="500"/>
              </a:spcAft>
              <a:buFont typeface="Arial"/>
              <a:buChar char="•"/>
            </a:pPr>
            <a:r>
              <a:rPr sz="1500" b="1">
                <a:solidFill>
                  <a:srgbClr val="111827"/>
                </a:solidFill>
                <a:latin typeface="Pretendard"/>
              </a:rPr>
              <a:t>Train 108,000 / Validation 12,000 / Test 7,600</a:t>
            </a:r>
          </a:p>
          <a:p>
            <a:pPr>
              <a:spcBef>
                <a:spcPts val="1400"/>
              </a:spcBef>
              <a:spcAft>
                <a:spcPts val="700"/>
              </a:spcAft>
            </a:pPr>
            <a:r>
              <a:rPr sz="1650" b="1">
                <a:solidFill>
                  <a:srgbClr val="1D4ED8"/>
                </a:solidFill>
                <a:latin typeface="Pretendard"/>
              </a:rPr>
              <a:t>Classes</a:t>
            </a:r>
          </a:p>
          <a:p>
            <a:pPr marL="274320" indent="-274320">
              <a:lnSpc>
                <a:spcPct val="125000"/>
              </a:lnSpc>
              <a:spcAft>
                <a:spcPts val="500"/>
              </a:spcAft>
              <a:buFont typeface="Arial"/>
              <a:buChar char="•"/>
            </a:pPr>
            <a:r>
              <a:rPr sz="1500" b="1">
                <a:solidFill>
                  <a:srgbClr val="111827"/>
                </a:solidFill>
                <a:latin typeface="Pretendard"/>
              </a:rPr>
              <a:t>World · Sports · Business · Sci-Tech</a:t>
            </a:r>
            <a:r>
              <a:rPr sz="1500" b="0">
                <a:solidFill>
                  <a:srgbClr val="374151"/>
                </a:solidFill>
                <a:latin typeface="Pretendard"/>
              </a:rPr>
              <a:t>, balanced</a:t>
            </a:r>
          </a:p>
          <a:p>
            <a:pPr marL="274320" indent="-274320">
              <a:lnSpc>
                <a:spcPct val="125000"/>
              </a:lnSpc>
              <a:spcAft>
                <a:spcPts val="500"/>
              </a:spcAft>
              <a:buFont typeface="Arial"/>
              <a:buChar char="•"/>
            </a:pPr>
            <a:r>
              <a:rPr sz="1500" b="0">
                <a:solidFill>
                  <a:srgbClr val="374151"/>
                </a:solidFill>
                <a:latin typeface="Pretendard"/>
              </a:rPr>
              <a:t>train ~27,000 / test 1,900 each</a:t>
            </a:r>
          </a:p>
          <a:p>
            <a:pPr>
              <a:spcBef>
                <a:spcPts val="1400"/>
              </a:spcBef>
              <a:spcAft>
                <a:spcPts val="700"/>
              </a:spcAft>
            </a:pPr>
            <a:r>
              <a:rPr sz="1650" b="1">
                <a:solidFill>
                  <a:srgbClr val="1D4ED8"/>
                </a:solidFill>
                <a:latin typeface="Pretendard"/>
              </a:rPr>
              <a:t>Preprocessing (shared by both models)</a:t>
            </a:r>
          </a:p>
          <a:p>
            <a:pPr marL="274320" indent="-274320">
              <a:lnSpc>
                <a:spcPct val="125000"/>
              </a:lnSpc>
              <a:spcAft>
                <a:spcPts val="500"/>
              </a:spcAft>
              <a:buFont typeface="Arial"/>
              <a:buChar char="•"/>
            </a:pPr>
            <a:r>
              <a:rPr sz="1500" b="0">
                <a:solidFill>
                  <a:srgbClr val="374151"/>
                </a:solidFill>
                <a:latin typeface="Pretendard"/>
              </a:rPr>
              <a:t>word-level tokenization (lowercased)</a:t>
            </a:r>
          </a:p>
          <a:p>
            <a:pPr marL="274320" indent="-274320">
              <a:lnSpc>
                <a:spcPct val="125000"/>
              </a:lnSpc>
              <a:spcAft>
                <a:spcPts val="500"/>
              </a:spcAft>
              <a:buFont typeface="Arial"/>
              <a:buChar char="•"/>
            </a:pPr>
            <a:r>
              <a:rPr sz="1500" b="0">
                <a:solidFill>
                  <a:srgbClr val="374151"/>
                </a:solidFill>
                <a:latin typeface="Pretendard"/>
              </a:rPr>
              <a:t>vocabulary: </a:t>
            </a:r>
            <a:r>
              <a:rPr sz="1500" b="1">
                <a:solidFill>
                  <a:srgbClr val="111827"/>
                </a:solidFill>
                <a:latin typeface="Pretendard"/>
              </a:rPr>
              <a:t>train-only</a:t>
            </a:r>
            <a:r>
              <a:rPr sz="1500" b="0">
                <a:solidFill>
                  <a:srgbClr val="374151"/>
                </a:solidFill>
                <a:latin typeface="Pretendard"/>
              </a:rPr>
              <a:t>, max 20,000, min frequency 2</a:t>
            </a:r>
          </a:p>
          <a:p>
            <a:pPr marL="274320" indent="-274320">
              <a:lnSpc>
                <a:spcPct val="125000"/>
              </a:lnSpc>
              <a:spcAft>
                <a:spcPts val="500"/>
              </a:spcAft>
              <a:buFont typeface="Arial"/>
              <a:buChar char="•"/>
            </a:pPr>
            <a:r>
              <a:rPr sz="1500" b="0">
                <a:solidFill>
                  <a:srgbClr val="374151"/>
                </a:solidFill>
                <a:latin typeface="Pretendard"/>
              </a:rPr>
              <a:t>max length 128, padding positions masked out</a:t>
            </a:r>
          </a:p>
        </p:txBody>
      </p:sp>
      <p:sp>
        <p:nvSpPr>
          <p:cNvPr id="5" name="TextBox 4"/>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0">
                <a:solidFill>
                  <a:srgbClr val="BFC6D0"/>
                </a:solidFill>
                <a:latin typeface="Pretendard"/>
              </a:rPr>
              <a:t>Background     </a:t>
            </a:r>
            <a:r>
              <a:rPr sz="1250" b="1">
                <a:solidFill>
                  <a:srgbClr val="1D4ED8"/>
                </a:solidFill>
                <a:latin typeface="Pretendard"/>
              </a:rPr>
              <a:t>Method</a:t>
            </a:r>
            <a:r>
              <a:rPr sz="1250" b="0">
                <a:solidFill>
                  <a:srgbClr val="BFC6D0"/>
                </a:solidFill>
                <a:latin typeface="Pretendard"/>
              </a:rPr>
              <a:t>     Results     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Shared backbone, </a:t>
            </a:r>
            <a:r>
              <a:rPr sz="2100" b="1">
                <a:solidFill>
                  <a:srgbClr val="1D4ED8"/>
                </a:solidFill>
                <a:latin typeface="Pretendard"/>
              </a:rPr>
              <a:t>only the encoder mechanism differs</a:t>
            </a:r>
          </a:p>
        </p:txBody>
      </p:sp>
      <p:sp>
        <p:nvSpPr>
          <p:cNvPr id="4" name="TextBox 3"/>
          <p:cNvSpPr txBox="1"/>
          <p:nvPr/>
        </p:nvSpPr>
        <p:spPr>
          <a:xfrm>
            <a:off x="457200" y="1463040"/>
            <a:ext cx="11277295" cy="4754880"/>
          </a:xfrm>
          <a:prstGeom prst="rect">
            <a:avLst/>
          </a:prstGeom>
          <a:noFill/>
        </p:spPr>
        <p:txBody>
          <a:bodyPr wrap="square" lIns="0" tIns="0" rIns="0" bIns="0" anchor="t">
            <a:spAutoFit/>
          </a:bodyPr>
          <a:lstStyle/>
          <a:p>
            <a:pPr>
              <a:spcBef>
                <a:spcPts val="0"/>
              </a:spcBef>
              <a:spcAft>
                <a:spcPts val="700"/>
              </a:spcAft>
            </a:pPr>
            <a:r>
              <a:rPr sz="1550" b="1">
                <a:solidFill>
                  <a:srgbClr val="1D4ED8"/>
                </a:solidFill>
                <a:latin typeface="Pretendard"/>
              </a:rPr>
              <a:t>Shared backbone</a:t>
            </a:r>
          </a:p>
          <a:p>
            <a:pPr marL="274320" indent="-274320">
              <a:lnSpc>
                <a:spcPct val="125000"/>
              </a:lnSpc>
              <a:spcAft>
                <a:spcPts val="500"/>
              </a:spcAft>
              <a:buFont typeface="Arial"/>
              <a:buChar char="•"/>
            </a:pPr>
            <a:r>
              <a:rPr sz="1400" b="1">
                <a:solidFill>
                  <a:srgbClr val="111827"/>
                </a:solidFill>
                <a:latin typeface="Pretendard"/>
              </a:rPr>
              <a:t>Embedding(128) → Encoder → masked mean pooling → Linear(4)</a:t>
            </a:r>
          </a:p>
          <a:p>
            <a:pPr marL="274320" indent="-274320">
              <a:lnSpc>
                <a:spcPct val="125000"/>
              </a:lnSpc>
              <a:spcAft>
                <a:spcPts val="500"/>
              </a:spcAft>
              <a:buFont typeface="Arial"/>
              <a:buChar char="•"/>
            </a:pPr>
            <a:r>
              <a:rPr sz="1400" b="0">
                <a:solidFill>
                  <a:srgbClr val="374151"/>
                </a:solidFill>
                <a:latin typeface="Pretendard"/>
              </a:rPr>
              <a:t>only the encoder is swapped, everything else identical</a:t>
            </a:r>
          </a:p>
          <a:p>
            <a:pPr>
              <a:spcBef>
                <a:spcPts val="1300"/>
              </a:spcBef>
              <a:spcAft>
                <a:spcPts val="700"/>
              </a:spcAft>
            </a:pPr>
            <a:r>
              <a:rPr sz="1550" b="1">
                <a:solidFill>
                  <a:srgbClr val="1D4ED8"/>
                </a:solidFill>
                <a:latin typeface="Pretendard"/>
              </a:rPr>
              <a:t>Core mechanism (basis for interpretation)</a:t>
            </a:r>
          </a:p>
          <a:p>
            <a:pPr marL="274320" indent="-274320">
              <a:lnSpc>
                <a:spcPct val="125000"/>
              </a:lnSpc>
              <a:spcAft>
                <a:spcPts val="500"/>
              </a:spcAft>
              <a:buFont typeface="Arial"/>
              <a:buChar char="•"/>
            </a:pPr>
            <a:r>
              <a:rPr sz="1400" b="1">
                <a:solidFill>
                  <a:srgbClr val="6B7280"/>
                </a:solidFill>
                <a:latin typeface="Pretendard"/>
              </a:rPr>
              <a:t>LSTM</a:t>
            </a:r>
            <a:r>
              <a:rPr sz="1400" b="0">
                <a:solidFill>
                  <a:srgbClr val="374151"/>
                </a:solidFill>
                <a:latin typeface="Pretendard"/>
              </a:rPr>
              <a:t>  processes tokens sequentially, accumulating context in the hidden state (recurrence)</a:t>
            </a:r>
          </a:p>
          <a:p>
            <a:pPr marL="274320" indent="-274320">
              <a:lnSpc>
                <a:spcPct val="125000"/>
              </a:lnSpc>
              <a:spcAft>
                <a:spcPts val="500"/>
              </a:spcAft>
              <a:buFont typeface="Arial"/>
              <a:buChar char="•"/>
            </a:pPr>
            <a:r>
              <a:rPr sz="1400" b="1">
                <a:solidFill>
                  <a:srgbClr val="1D4ED8"/>
                </a:solidFill>
                <a:latin typeface="Pretendard"/>
              </a:rPr>
              <a:t>Transformer</a:t>
            </a:r>
            <a:r>
              <a:rPr sz="1400" b="0">
                <a:solidFill>
                  <a:srgbClr val="374151"/>
                </a:solidFill>
                <a:latin typeface="Pretendard"/>
              </a:rPr>
              <a:t>  connects all tokens directly via self-attention, distributes evidence across tokens</a:t>
            </a:r>
          </a:p>
          <a:p>
            <a:pPr>
              <a:spcBef>
                <a:spcPts val="1300"/>
              </a:spcBef>
              <a:spcAft>
                <a:spcPts val="700"/>
              </a:spcAft>
            </a:pPr>
            <a:r>
              <a:rPr sz="1550" b="1">
                <a:solidFill>
                  <a:srgbClr val="1D4ED8"/>
                </a:solidFill>
                <a:latin typeface="Pretendard"/>
              </a:rPr>
              <a:t>Setup · scale</a:t>
            </a:r>
          </a:p>
          <a:p>
            <a:pPr marL="274320" indent="-274320">
              <a:lnSpc>
                <a:spcPct val="125000"/>
              </a:lnSpc>
              <a:spcAft>
                <a:spcPts val="500"/>
              </a:spcAft>
              <a:buFont typeface="Arial"/>
              <a:buChar char="•"/>
            </a:pPr>
            <a:r>
              <a:rPr sz="1400" b="1">
                <a:solidFill>
                  <a:srgbClr val="6B7280"/>
                </a:solidFill>
                <a:latin typeface="Pretendard"/>
              </a:rPr>
              <a:t>LSTM</a:t>
            </a:r>
            <a:r>
              <a:rPr sz="1400" b="0">
                <a:solidFill>
                  <a:srgbClr val="374151"/>
                </a:solidFill>
                <a:latin typeface="Pretendard"/>
              </a:rPr>
              <a:t>  bidirectional 2 layers · hidden 128 · params 3,220,484</a:t>
            </a:r>
          </a:p>
          <a:p>
            <a:pPr marL="274320" indent="-274320">
              <a:lnSpc>
                <a:spcPct val="125000"/>
              </a:lnSpc>
              <a:spcAft>
                <a:spcPts val="500"/>
              </a:spcAft>
              <a:buFont typeface="Arial"/>
              <a:buChar char="•"/>
            </a:pPr>
            <a:r>
              <a:rPr sz="1400" b="1">
                <a:solidFill>
                  <a:srgbClr val="1D4ED8"/>
                </a:solidFill>
                <a:latin typeface="Pretendard"/>
              </a:rPr>
              <a:t>Transformer</a:t>
            </a:r>
            <a:r>
              <a:rPr sz="1400" b="0">
                <a:solidFill>
                  <a:srgbClr val="374151"/>
                </a:solidFill>
                <a:latin typeface="Pretendard"/>
              </a:rPr>
              <a:t>  2 layers · 4 heads · FFN 256 · sinusoidal PE · params 2,825,476</a:t>
            </a:r>
          </a:p>
          <a:p>
            <a:pPr marL="274320" indent="-274320">
              <a:lnSpc>
                <a:spcPct val="125000"/>
              </a:lnSpc>
              <a:spcAft>
                <a:spcPts val="500"/>
              </a:spcAft>
              <a:buFont typeface="Arial"/>
              <a:buChar char="•"/>
            </a:pPr>
            <a:r>
              <a:rPr sz="1400" b="0">
                <a:solidFill>
                  <a:srgbClr val="374151"/>
                </a:solidFill>
                <a:latin typeface="Pretendard"/>
              </a:rPr>
              <a:t>embedding dominates, so the two models are within </a:t>
            </a:r>
            <a:r>
              <a:rPr sz="1400" b="1">
                <a:solidFill>
                  <a:srgbClr val="111827"/>
                </a:solidFill>
                <a:latin typeface="Pretendard"/>
              </a:rPr>
              <a:t>~14%</a:t>
            </a:r>
            <a:r>
              <a:rPr sz="1400" b="0">
                <a:solidFill>
                  <a:srgbClr val="374151"/>
                </a:solidFill>
                <a:latin typeface="Pretendard"/>
              </a:rPr>
              <a:t> in parameters</a:t>
            </a:r>
          </a:p>
        </p:txBody>
      </p:sp>
      <p:sp>
        <p:nvSpPr>
          <p:cNvPr id="5" name="TextBox 4"/>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0">
                <a:solidFill>
                  <a:srgbClr val="BFC6D0"/>
                </a:solidFill>
                <a:latin typeface="Pretendard"/>
              </a:rPr>
              <a:t>Background     </a:t>
            </a:r>
            <a:r>
              <a:rPr sz="1250" b="1">
                <a:solidFill>
                  <a:srgbClr val="1D4ED8"/>
                </a:solidFill>
                <a:latin typeface="Pretendard"/>
              </a:rPr>
              <a:t>Method</a:t>
            </a:r>
            <a:r>
              <a:rPr sz="1250" b="0">
                <a:solidFill>
                  <a:srgbClr val="BFC6D0"/>
                </a:solidFill>
                <a:latin typeface="Pretendard"/>
              </a:rPr>
              <a:t>     Results     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Only variable = </a:t>
            </a:r>
            <a:r>
              <a:rPr sz="2100" b="1">
                <a:solidFill>
                  <a:srgbClr val="1D4ED8"/>
                </a:solidFill>
                <a:latin typeface="Pretendard"/>
              </a:rPr>
              <a:t>encoder architecture</a:t>
            </a:r>
            <a:r>
              <a:rPr sz="2100" b="1">
                <a:solidFill>
                  <a:srgbClr val="111827"/>
                </a:solidFill>
                <a:latin typeface="Pretendard"/>
              </a:rPr>
              <a:t> (everything else fixed)</a:t>
            </a:r>
          </a:p>
        </p:txBody>
      </p:sp>
      <p:sp>
        <p:nvSpPr>
          <p:cNvPr id="4" name="TextBox 3"/>
          <p:cNvSpPr txBox="1"/>
          <p:nvPr/>
        </p:nvSpPr>
        <p:spPr>
          <a:xfrm>
            <a:off x="457200" y="1463040"/>
            <a:ext cx="11277295" cy="4754880"/>
          </a:xfrm>
          <a:prstGeom prst="rect">
            <a:avLst/>
          </a:prstGeom>
          <a:noFill/>
        </p:spPr>
        <p:txBody>
          <a:bodyPr wrap="square" lIns="0" tIns="0" rIns="0" bIns="0" anchor="t">
            <a:spAutoFit/>
          </a:bodyPr>
          <a:lstStyle/>
          <a:p>
            <a:pPr>
              <a:spcBef>
                <a:spcPts val="0"/>
              </a:spcBef>
              <a:spcAft>
                <a:spcPts val="700"/>
              </a:spcAft>
            </a:pPr>
            <a:r>
              <a:rPr sz="1650" b="1">
                <a:solidFill>
                  <a:srgbClr val="1D4ED8"/>
                </a:solidFill>
                <a:latin typeface="Pretendard"/>
              </a:rPr>
              <a:t>Fixed (fair comparison)</a:t>
            </a:r>
          </a:p>
          <a:p>
            <a:pPr marL="274320" indent="-274320">
              <a:lnSpc>
                <a:spcPct val="125000"/>
              </a:lnSpc>
              <a:spcAft>
                <a:spcPts val="500"/>
              </a:spcAft>
              <a:buFont typeface="Arial"/>
              <a:buChar char="•"/>
            </a:pPr>
            <a:r>
              <a:rPr sz="1500" b="0">
                <a:solidFill>
                  <a:srgbClr val="374151"/>
                </a:solidFill>
                <a:latin typeface="Pretendard"/>
              </a:rPr>
              <a:t>split · tokenizer · vocabulary · max length · pooling</a:t>
            </a:r>
          </a:p>
          <a:p>
            <a:pPr marL="274320" indent="-274320">
              <a:lnSpc>
                <a:spcPct val="125000"/>
              </a:lnSpc>
              <a:spcAft>
                <a:spcPts val="500"/>
              </a:spcAft>
              <a:buFont typeface="Arial"/>
              <a:buChar char="•"/>
            </a:pPr>
            <a:r>
              <a:rPr sz="1500" b="0">
                <a:solidFill>
                  <a:srgbClr val="374151"/>
                </a:solidFill>
                <a:latin typeface="Pretendard"/>
              </a:rPr>
              <a:t>optimizer · learning rate · batch size · epoch · seed</a:t>
            </a:r>
          </a:p>
          <a:p>
            <a:pPr>
              <a:spcBef>
                <a:spcPts val="1400"/>
              </a:spcBef>
              <a:spcAft>
                <a:spcPts val="700"/>
              </a:spcAft>
            </a:pPr>
            <a:r>
              <a:rPr sz="1650" b="1">
                <a:solidFill>
                  <a:srgbClr val="1D4ED8"/>
                </a:solidFill>
                <a:latin typeface="Pretendard"/>
              </a:rPr>
              <a:t>Training</a:t>
            </a:r>
          </a:p>
          <a:p>
            <a:pPr marL="274320" indent="-274320">
              <a:lnSpc>
                <a:spcPct val="125000"/>
              </a:lnSpc>
              <a:spcAft>
                <a:spcPts val="500"/>
              </a:spcAft>
              <a:buFont typeface="Arial"/>
              <a:buChar char="•"/>
            </a:pPr>
            <a:r>
              <a:rPr sz="1500" b="0">
                <a:solidFill>
                  <a:srgbClr val="374151"/>
                </a:solidFill>
                <a:latin typeface="Pretendard"/>
              </a:rPr>
              <a:t>Adam, learning rate 0.001, batch 64, up to 8 epochs, dropout 0.1, seed 42</a:t>
            </a:r>
          </a:p>
          <a:p>
            <a:pPr marL="274320" indent="-274320">
              <a:lnSpc>
                <a:spcPct val="125000"/>
              </a:lnSpc>
              <a:spcAft>
                <a:spcPts val="500"/>
              </a:spcAft>
              <a:buFont typeface="Arial"/>
              <a:buChar char="•"/>
            </a:pPr>
            <a:r>
              <a:rPr sz="1500" b="0">
                <a:solidFill>
                  <a:srgbClr val="374151"/>
                </a:solidFill>
                <a:latin typeface="Pretendard"/>
              </a:rPr>
              <a:t>model selection on </a:t>
            </a:r>
            <a:r>
              <a:rPr sz="1500" b="1">
                <a:solidFill>
                  <a:srgbClr val="111827"/>
                </a:solidFill>
                <a:latin typeface="Pretendard"/>
              </a:rPr>
              <a:t>validation</a:t>
            </a:r>
            <a:r>
              <a:rPr sz="1500" b="0">
                <a:solidFill>
                  <a:srgbClr val="374151"/>
                </a:solidFill>
                <a:latin typeface="Pretendard"/>
              </a:rPr>
              <a:t>, test evaluated once</a:t>
            </a:r>
          </a:p>
          <a:p>
            <a:pPr>
              <a:spcBef>
                <a:spcPts val="1400"/>
              </a:spcBef>
              <a:spcAft>
                <a:spcPts val="700"/>
              </a:spcAft>
            </a:pPr>
            <a:r>
              <a:rPr sz="1650" b="1">
                <a:solidFill>
                  <a:srgbClr val="1D4ED8"/>
                </a:solidFill>
                <a:latin typeface="Pretendard"/>
              </a:rPr>
              <a:t>Ablation · metrics</a:t>
            </a:r>
          </a:p>
          <a:p>
            <a:pPr marL="274320" indent="-274320">
              <a:lnSpc>
                <a:spcPct val="125000"/>
              </a:lnSpc>
              <a:spcAft>
                <a:spcPts val="500"/>
              </a:spcAft>
              <a:buFont typeface="Arial"/>
              <a:buChar char="•"/>
            </a:pPr>
            <a:r>
              <a:rPr sz="1500" b="1">
                <a:solidFill>
                  <a:srgbClr val="111827"/>
                </a:solidFill>
                <a:latin typeface="Pretendard"/>
              </a:rPr>
              <a:t>training set 5 / 25 / 50 / 100%</a:t>
            </a:r>
            <a:r>
              <a:rPr sz="1500" b="0">
                <a:solidFill>
                  <a:srgbClr val="374151"/>
                </a:solidFill>
                <a:latin typeface="Pretendard"/>
              </a:rPr>
              <a:t> (vocabulary fixed, stratified, full val·test)</a:t>
            </a:r>
          </a:p>
          <a:p>
            <a:pPr marL="274320" indent="-274320">
              <a:lnSpc>
                <a:spcPct val="125000"/>
              </a:lnSpc>
              <a:spcAft>
                <a:spcPts val="500"/>
              </a:spcAft>
              <a:buFont typeface="Arial"/>
              <a:buChar char="•"/>
            </a:pPr>
            <a:r>
              <a:rPr sz="1500" b="0">
                <a:solidFill>
                  <a:srgbClr val="374151"/>
                </a:solidFill>
                <a:latin typeface="Pretendard"/>
              </a:rPr>
              <a:t>accuracy · macro F1-score · loss curve · confusion matrix</a:t>
            </a:r>
          </a:p>
        </p:txBody>
      </p:sp>
      <p:sp>
        <p:nvSpPr>
          <p:cNvPr id="5" name="TextBox 4"/>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0">
                <a:solidFill>
                  <a:srgbClr val="BFC6D0"/>
                </a:solidFill>
                <a:latin typeface="Pretendard"/>
              </a:rPr>
              <a:t>Background     Method     </a:t>
            </a:r>
            <a:r>
              <a:rPr sz="1250" b="1">
                <a:solidFill>
                  <a:srgbClr val="1D4ED8"/>
                </a:solidFill>
                <a:latin typeface="Pretendard"/>
              </a:rPr>
              <a:t>Results</a:t>
            </a:r>
            <a:r>
              <a:rPr sz="1250" b="0">
                <a:solidFill>
                  <a:srgbClr val="BFC6D0"/>
                </a:solidFill>
                <a:latin typeface="Pretendard"/>
              </a:rPr>
              <a:t>     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Transformer </a:t>
            </a:r>
            <a:r>
              <a:rPr sz="2100" b="1">
                <a:solidFill>
                  <a:srgbClr val="1D4ED8"/>
                </a:solidFill>
                <a:latin typeface="Pretendard"/>
              </a:rPr>
              <a:t>0.910</a:t>
            </a:r>
            <a:r>
              <a:rPr sz="2100" b="1">
                <a:solidFill>
                  <a:srgbClr val="111827"/>
                </a:solidFill>
                <a:latin typeface="Pretendard"/>
              </a:rPr>
              <a:t> vs LSTM </a:t>
            </a:r>
            <a:r>
              <a:rPr sz="2100" b="1">
                <a:solidFill>
                  <a:srgbClr val="6B7280"/>
                </a:solidFill>
                <a:latin typeface="Pretendard"/>
              </a:rPr>
              <a:t>0.833</a:t>
            </a:r>
            <a:r>
              <a:rPr sz="2100" b="1">
                <a:solidFill>
                  <a:srgbClr val="111827"/>
                </a:solidFill>
                <a:latin typeface="Pretendard"/>
              </a:rPr>
              <a:t>, the gap comes from overfitting</a:t>
            </a:r>
          </a:p>
        </p:txBody>
      </p:sp>
      <p:pic>
        <p:nvPicPr>
          <p:cNvPr id="4" name="Picture 3" descr="fig_loss_en.png"/>
          <p:cNvPicPr>
            <a:picLocks noChangeAspect="1"/>
          </p:cNvPicPr>
          <p:nvPr/>
        </p:nvPicPr>
        <p:blipFill>
          <a:blip r:embed="rId3"/>
          <a:stretch>
            <a:fillRect/>
          </a:stretch>
        </p:blipFill>
        <p:spPr>
          <a:xfrm>
            <a:off x="946991" y="1417320"/>
            <a:ext cx="10297711" cy="3886200"/>
          </a:xfrm>
          <a:prstGeom prst="rect">
            <a:avLst/>
          </a:prstGeom>
        </p:spPr>
      </p:pic>
      <p:sp>
        <p:nvSpPr>
          <p:cNvPr id="5" name="TextBox 4"/>
          <p:cNvSpPr txBox="1"/>
          <p:nvPr/>
        </p:nvSpPr>
        <p:spPr>
          <a:xfrm>
            <a:off x="457200" y="5440680"/>
            <a:ext cx="11277295" cy="1280160"/>
          </a:xfrm>
          <a:prstGeom prst="rect">
            <a:avLst/>
          </a:prstGeom>
          <a:noFill/>
        </p:spPr>
        <p:txBody>
          <a:bodyPr wrap="square" lIns="0" tIns="0" rIns="0" bIns="0" anchor="t">
            <a:spAutoFit/>
          </a:bodyPr>
          <a:lstStyle/>
          <a:p>
            <a:pPr marL="274320" indent="-274320">
              <a:lnSpc>
                <a:spcPct val="125000"/>
              </a:lnSpc>
              <a:spcAft>
                <a:spcPts val="500"/>
              </a:spcAft>
              <a:buFont typeface="Arial"/>
              <a:buChar char="•"/>
            </a:pPr>
            <a:r>
              <a:rPr sz="1400" b="1">
                <a:solidFill>
                  <a:srgbClr val="1D4ED8"/>
                </a:solidFill>
                <a:latin typeface="Pretendard"/>
              </a:rPr>
              <a:t>Transformer</a:t>
            </a:r>
            <a:r>
              <a:rPr sz="1400" b="0">
                <a:solidFill>
                  <a:srgbClr val="374151"/>
                </a:solidFill>
                <a:latin typeface="Pretendard"/>
              </a:rPr>
              <a:t>  test accuracy </a:t>
            </a:r>
            <a:r>
              <a:rPr sz="1400" b="1">
                <a:solidFill>
                  <a:srgbClr val="1D4ED8"/>
                </a:solidFill>
                <a:latin typeface="Pretendard"/>
              </a:rPr>
              <a:t>0.910</a:t>
            </a:r>
            <a:r>
              <a:rPr sz="1400" b="0">
                <a:solidFill>
                  <a:srgbClr val="374151"/>
                </a:solidFill>
                <a:latin typeface="Pretendard"/>
              </a:rPr>
              <a:t> · macro F1 0.909</a:t>
            </a:r>
          </a:p>
          <a:p>
            <a:pPr marL="274320" indent="-274320">
              <a:lnSpc>
                <a:spcPct val="125000"/>
              </a:lnSpc>
              <a:spcAft>
                <a:spcPts val="500"/>
              </a:spcAft>
              <a:buFont typeface="Arial"/>
              <a:buChar char="•"/>
            </a:pPr>
            <a:r>
              <a:rPr sz="1400" b="1">
                <a:solidFill>
                  <a:srgbClr val="6B7280"/>
                </a:solidFill>
                <a:latin typeface="Pretendard"/>
              </a:rPr>
              <a:t>LSTM</a:t>
            </a:r>
            <a:r>
              <a:rPr sz="1400" b="0">
                <a:solidFill>
                  <a:srgbClr val="374151"/>
                </a:solidFill>
                <a:latin typeface="Pretendard"/>
              </a:rPr>
              <a:t>  0.833 · macro F1 0.835, </a:t>
            </a:r>
            <a:r>
              <a:rPr sz="1400" b="1">
                <a:solidFill>
                  <a:srgbClr val="C0392B"/>
                </a:solidFill>
                <a:latin typeface="Pretendard"/>
              </a:rPr>
              <a:t>val loss explodes</a:t>
            </a:r>
            <a:r>
              <a:rPr sz="1400" b="0">
                <a:solidFill>
                  <a:srgbClr val="374151"/>
                </a:solidFill>
                <a:latin typeface="Pretendard"/>
              </a:rPr>
              <a:t>, best epoch 2 saved</a:t>
            </a:r>
          </a:p>
        </p:txBody>
      </p:sp>
      <p:sp>
        <p:nvSpPr>
          <p:cNvPr id="6" name="TextBox 5"/>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0">
                <a:solidFill>
                  <a:srgbClr val="BFC6D0"/>
                </a:solidFill>
                <a:latin typeface="Pretendard"/>
              </a:rPr>
              <a:t>Background     Method     </a:t>
            </a:r>
            <a:r>
              <a:rPr sz="1250" b="1">
                <a:solidFill>
                  <a:srgbClr val="1D4ED8"/>
                </a:solidFill>
                <a:latin typeface="Pretendard"/>
              </a:rPr>
              <a:t>Results</a:t>
            </a:r>
            <a:r>
              <a:rPr sz="1250" b="0">
                <a:solidFill>
                  <a:srgbClr val="BFC6D0"/>
                </a:solidFill>
                <a:latin typeface="Pretendard"/>
              </a:rPr>
              <a:t>     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Both models confuse </a:t>
            </a:r>
            <a:r>
              <a:rPr sz="2100" b="1">
                <a:solidFill>
                  <a:srgbClr val="1D4ED8"/>
                </a:solidFill>
                <a:latin typeface="Pretendard"/>
              </a:rPr>
              <a:t>Business ↔ Sci/Tech the most</a:t>
            </a:r>
          </a:p>
        </p:txBody>
      </p:sp>
      <p:pic>
        <p:nvPicPr>
          <p:cNvPr id="4" name="Picture 3" descr="fig_confusion_en.png"/>
          <p:cNvPicPr>
            <a:picLocks noChangeAspect="1"/>
          </p:cNvPicPr>
          <p:nvPr/>
        </p:nvPicPr>
        <p:blipFill>
          <a:blip r:embed="rId3"/>
          <a:stretch>
            <a:fillRect/>
          </a:stretch>
        </p:blipFill>
        <p:spPr>
          <a:xfrm>
            <a:off x="2193336" y="1417320"/>
            <a:ext cx="7805021" cy="3657600"/>
          </a:xfrm>
          <a:prstGeom prst="rect">
            <a:avLst/>
          </a:prstGeom>
        </p:spPr>
      </p:pic>
      <p:sp>
        <p:nvSpPr>
          <p:cNvPr id="5" name="TextBox 4"/>
          <p:cNvSpPr txBox="1"/>
          <p:nvPr/>
        </p:nvSpPr>
        <p:spPr>
          <a:xfrm>
            <a:off x="457200" y="5303520"/>
            <a:ext cx="11277295" cy="1371600"/>
          </a:xfrm>
          <a:prstGeom prst="rect">
            <a:avLst/>
          </a:prstGeom>
          <a:noFill/>
        </p:spPr>
        <p:txBody>
          <a:bodyPr wrap="square" lIns="0" tIns="0" rIns="0" bIns="0" anchor="t">
            <a:spAutoFit/>
          </a:bodyPr>
          <a:lstStyle/>
          <a:p>
            <a:pPr marL="274320" indent="-274320">
              <a:lnSpc>
                <a:spcPct val="125000"/>
              </a:lnSpc>
              <a:spcAft>
                <a:spcPts val="500"/>
              </a:spcAft>
              <a:buFont typeface="Arial"/>
              <a:buChar char="•"/>
            </a:pPr>
            <a:r>
              <a:rPr sz="1400" b="1">
                <a:solidFill>
                  <a:srgbClr val="111827"/>
                </a:solidFill>
                <a:latin typeface="Pretendard"/>
              </a:rPr>
              <a:t>Both wrong: 428</a:t>
            </a:r>
            <a:r>
              <a:rPr sz="1400" b="0">
                <a:solidFill>
                  <a:srgbClr val="374151"/>
                </a:solidFill>
                <a:latin typeface="Pretendard"/>
              </a:rPr>
              <a:t>  61% on the Business / Sci-Tech boundary (semantic overlap)</a:t>
            </a:r>
          </a:p>
          <a:p>
            <a:pPr marL="274320" indent="-274320">
              <a:lnSpc>
                <a:spcPct val="125000"/>
              </a:lnSpc>
              <a:spcAft>
                <a:spcPts val="500"/>
              </a:spcAft>
              <a:buFont typeface="Arial"/>
              <a:buChar char="•"/>
            </a:pPr>
            <a:r>
              <a:rPr sz="1400" b="1">
                <a:solidFill>
                  <a:srgbClr val="111827"/>
                </a:solidFill>
                <a:latin typeface="Pretendard"/>
              </a:rPr>
              <a:t>LSTM-only: 841</a:t>
            </a:r>
            <a:r>
              <a:rPr sz="1400" b="0">
                <a:solidFill>
                  <a:srgbClr val="374151"/>
                </a:solidFill>
                <a:latin typeface="Pretendard"/>
              </a:rPr>
              <a:t>  spread across all classes, </a:t>
            </a:r>
            <a:r>
              <a:rPr sz="1400" b="1">
                <a:solidFill>
                  <a:srgbClr val="111827"/>
                </a:solidFill>
                <a:latin typeface="Pretendard"/>
              </a:rPr>
              <a:t>3.2×</a:t>
            </a:r>
            <a:r>
              <a:rPr sz="1400" b="0">
                <a:solidFill>
                  <a:srgbClr val="374151"/>
                </a:solidFill>
                <a:latin typeface="Pretendard"/>
              </a:rPr>
              <a:t> the Transformer-only (259)</a:t>
            </a:r>
          </a:p>
        </p:txBody>
      </p:sp>
      <p:sp>
        <p:nvSpPr>
          <p:cNvPr id="6" name="TextBox 5"/>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0">
                <a:solidFill>
                  <a:srgbClr val="BFC6D0"/>
                </a:solidFill>
                <a:latin typeface="Pretendard"/>
              </a:rPr>
              <a:t>Background     Method     </a:t>
            </a:r>
            <a:r>
              <a:rPr sz="1250" b="1">
                <a:solidFill>
                  <a:srgbClr val="1D4ED8"/>
                </a:solidFill>
                <a:latin typeface="Pretendard"/>
              </a:rPr>
              <a:t>Results</a:t>
            </a:r>
            <a:r>
              <a:rPr sz="1250" b="0">
                <a:solidFill>
                  <a:srgbClr val="BFC6D0"/>
                </a:solidFill>
                <a:latin typeface="Pretendard"/>
              </a:rPr>
              <a:t>     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LSTM </a:t>
            </a:r>
            <a:r>
              <a:rPr sz="2100" b="1">
                <a:solidFill>
                  <a:srgbClr val="6B7280"/>
                </a:solidFill>
                <a:latin typeface="Pretendard"/>
              </a:rPr>
              <a:t>saturates at 25%</a:t>
            </a:r>
            <a:r>
              <a:rPr sz="2100" b="1">
                <a:solidFill>
                  <a:srgbClr val="111827"/>
                </a:solidFill>
                <a:latin typeface="Pretendard"/>
              </a:rPr>
              <a:t>, Transformer </a:t>
            </a:r>
            <a:r>
              <a:rPr sz="2100" b="1">
                <a:solidFill>
                  <a:srgbClr val="1D4ED8"/>
                </a:solidFill>
                <a:latin typeface="Pretendard"/>
              </a:rPr>
              <a:t>keeps improving</a:t>
            </a:r>
          </a:p>
        </p:txBody>
      </p:sp>
      <p:pic>
        <p:nvPicPr>
          <p:cNvPr id="4" name="Picture 3" descr="fig_ablation_en.png"/>
          <p:cNvPicPr>
            <a:picLocks noChangeAspect="1"/>
          </p:cNvPicPr>
          <p:nvPr/>
        </p:nvPicPr>
        <p:blipFill>
          <a:blip r:embed="rId3"/>
          <a:stretch>
            <a:fillRect/>
          </a:stretch>
        </p:blipFill>
        <p:spPr>
          <a:xfrm>
            <a:off x="457200" y="1842888"/>
            <a:ext cx="6492240" cy="3812303"/>
          </a:xfrm>
          <a:prstGeom prst="rect">
            <a:avLst/>
          </a:prstGeom>
        </p:spPr>
      </p:pic>
      <p:sp>
        <p:nvSpPr>
          <p:cNvPr id="5" name="TextBox 4"/>
          <p:cNvSpPr txBox="1"/>
          <p:nvPr/>
        </p:nvSpPr>
        <p:spPr>
          <a:xfrm>
            <a:off x="7223760" y="1645920"/>
            <a:ext cx="4510735" cy="4389120"/>
          </a:xfrm>
          <a:prstGeom prst="rect">
            <a:avLst/>
          </a:prstGeom>
          <a:noFill/>
        </p:spPr>
        <p:txBody>
          <a:bodyPr wrap="square" lIns="0" tIns="0" rIns="0" bIns="0" anchor="t">
            <a:spAutoFit/>
          </a:bodyPr>
          <a:lstStyle/>
          <a:p>
            <a:pPr>
              <a:spcBef>
                <a:spcPts val="0"/>
              </a:spcBef>
              <a:spcAft>
                <a:spcPts val="700"/>
              </a:spcAft>
            </a:pPr>
            <a:r>
              <a:rPr sz="1550" b="1">
                <a:solidFill>
                  <a:srgbClr val="1D4ED8"/>
                </a:solidFill>
                <a:latin typeface="Pretendard"/>
              </a:rPr>
              <a:t>Transformer</a:t>
            </a:r>
          </a:p>
          <a:p>
            <a:pPr marL="274320" indent="-274320">
              <a:lnSpc>
                <a:spcPct val="125000"/>
              </a:lnSpc>
              <a:spcAft>
                <a:spcPts val="500"/>
              </a:spcAft>
              <a:buFont typeface="Arial"/>
              <a:buChar char="•"/>
            </a:pPr>
            <a:r>
              <a:rPr sz="1400" b="1">
                <a:solidFill>
                  <a:srgbClr val="1D4ED8"/>
                </a:solidFill>
                <a:latin typeface="Pretendard"/>
              </a:rPr>
              <a:t>monotonic increase with data (scaling)</a:t>
            </a:r>
          </a:p>
          <a:p>
            <a:pPr marL="274320" indent="-274320">
              <a:lnSpc>
                <a:spcPct val="125000"/>
              </a:lnSpc>
              <a:spcAft>
                <a:spcPts val="500"/>
              </a:spcAft>
              <a:buFont typeface="Arial"/>
              <a:buChar char="•"/>
            </a:pPr>
            <a:r>
              <a:rPr sz="1400" b="0">
                <a:solidFill>
                  <a:srgbClr val="374151"/>
                </a:solidFill>
                <a:latin typeface="Pretendard"/>
              </a:rPr>
              <a:t>more data, better accuracy</a:t>
            </a:r>
          </a:p>
          <a:p>
            <a:pPr>
              <a:spcBef>
                <a:spcPts val="1600"/>
              </a:spcBef>
              <a:spcAft>
                <a:spcPts val="700"/>
              </a:spcAft>
            </a:pPr>
            <a:r>
              <a:rPr sz="1550" b="1">
                <a:solidFill>
                  <a:srgbClr val="1D4ED8"/>
                </a:solidFill>
                <a:latin typeface="Pretendard"/>
              </a:rPr>
              <a:t>LSTM</a:t>
            </a:r>
          </a:p>
          <a:p>
            <a:pPr marL="274320" indent="-274320">
              <a:lnSpc>
                <a:spcPct val="125000"/>
              </a:lnSpc>
              <a:spcAft>
                <a:spcPts val="500"/>
              </a:spcAft>
              <a:buFont typeface="Arial"/>
              <a:buChar char="•"/>
            </a:pPr>
            <a:r>
              <a:rPr sz="1400" b="1">
                <a:solidFill>
                  <a:srgbClr val="6B7280"/>
                </a:solidFill>
                <a:latin typeface="Pretendard"/>
              </a:rPr>
              <a:t>peaks at 25%, then saturation</a:t>
            </a:r>
          </a:p>
          <a:p>
            <a:pPr marL="274320" indent="-274320">
              <a:lnSpc>
                <a:spcPct val="125000"/>
              </a:lnSpc>
              <a:spcAft>
                <a:spcPts val="500"/>
              </a:spcAft>
              <a:buFont typeface="Arial"/>
              <a:buChar char="•"/>
            </a:pPr>
            <a:r>
              <a:rPr sz="1400" b="0">
                <a:solidFill>
                  <a:srgbClr val="374151"/>
                </a:solidFill>
                <a:latin typeface="Pretendard"/>
              </a:rPr>
              <a:t>overfitting prevents using more data</a:t>
            </a:r>
          </a:p>
          <a:p>
            <a:pPr>
              <a:spcBef>
                <a:spcPts val="1600"/>
              </a:spcBef>
              <a:spcAft>
                <a:spcPts val="700"/>
              </a:spcAft>
            </a:pPr>
            <a:r>
              <a:rPr sz="1550" b="1">
                <a:solidFill>
                  <a:srgbClr val="1D4ED8"/>
                </a:solidFill>
                <a:latin typeface="Pretendard"/>
              </a:rPr>
              <a:t>Hypothesis rejected</a:t>
            </a:r>
          </a:p>
          <a:p>
            <a:pPr marL="274320" indent="-274320">
              <a:lnSpc>
                <a:spcPct val="125000"/>
              </a:lnSpc>
              <a:spcAft>
                <a:spcPts val="500"/>
              </a:spcAft>
              <a:buFont typeface="Arial"/>
              <a:buChar char="•"/>
            </a:pPr>
            <a:r>
              <a:rPr sz="1400" b="0">
                <a:solidFill>
                  <a:srgbClr val="374151"/>
                </a:solidFill>
                <a:latin typeface="Pretendard"/>
              </a:rPr>
              <a:t>'data-hungry' hypothesis rejected</a:t>
            </a:r>
          </a:p>
          <a:p>
            <a:pPr marL="274320" indent="-274320">
              <a:lnSpc>
                <a:spcPct val="125000"/>
              </a:lnSpc>
              <a:spcAft>
                <a:spcPts val="500"/>
              </a:spcAft>
              <a:buFont typeface="Arial"/>
              <a:buChar char="•"/>
            </a:pPr>
            <a:r>
              <a:rPr sz="1400" b="0">
                <a:solidFill>
                  <a:srgbClr val="374151"/>
                </a:solidFill>
                <a:latin typeface="Pretendard"/>
              </a:rPr>
              <a:t>Transformer leads across all data sizes</a:t>
            </a:r>
          </a:p>
        </p:txBody>
      </p:sp>
      <p:sp>
        <p:nvSpPr>
          <p:cNvPr id="6" name="TextBox 5"/>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0">
                <a:solidFill>
                  <a:srgbClr val="BFC6D0"/>
                </a:solidFill>
                <a:latin typeface="Pretendard"/>
              </a:rPr>
              <a:t>Background     Method     </a:t>
            </a:r>
            <a:r>
              <a:rPr sz="1250" b="1">
                <a:solidFill>
                  <a:srgbClr val="1D4ED8"/>
                </a:solidFill>
                <a:latin typeface="Pretendard"/>
              </a:rPr>
              <a:t>Results</a:t>
            </a:r>
            <a:r>
              <a:rPr sz="1250" b="0">
                <a:solidFill>
                  <a:srgbClr val="BFC6D0"/>
                </a:solidFill>
                <a:latin typeface="Pretendard"/>
              </a:rPr>
              <a:t>     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Bag-of-words task: the gap is </a:t>
            </a:r>
            <a:r>
              <a:rPr sz="2100" b="1">
                <a:solidFill>
                  <a:srgbClr val="1D4ED8"/>
                </a:solidFill>
                <a:latin typeface="Pretendard"/>
              </a:rPr>
              <a:t>robustness, not word order</a:t>
            </a:r>
          </a:p>
        </p:txBody>
      </p:sp>
      <p:sp>
        <p:nvSpPr>
          <p:cNvPr id="4" name="TextBox 3"/>
          <p:cNvSpPr txBox="1"/>
          <p:nvPr/>
        </p:nvSpPr>
        <p:spPr>
          <a:xfrm>
            <a:off x="457200" y="1280160"/>
            <a:ext cx="11277295" cy="731520"/>
          </a:xfrm>
          <a:prstGeom prst="rect">
            <a:avLst/>
          </a:prstGeom>
          <a:noFill/>
        </p:spPr>
        <p:txBody>
          <a:bodyPr wrap="square" lIns="0" tIns="0" rIns="0" bIns="0" anchor="t">
            <a:spAutoFit/>
          </a:bodyPr>
          <a:lstStyle/>
          <a:p>
            <a:pPr>
              <a:lnSpc>
                <a:spcPct val="118000"/>
              </a:lnSpc>
            </a:pPr>
            <a:r>
              <a:rPr sz="1250" b="0">
                <a:solidFill>
                  <a:srgbClr val="6B7280"/>
                </a:solidFill>
                <a:latin typeface="Pretendard"/>
              </a:rPr>
              <a:t>Input (label: </a:t>
            </a:r>
            <a:r>
              <a:rPr sz="1250" b="1">
                <a:solidFill>
                  <a:srgbClr val="1D4ED8"/>
                </a:solidFill>
                <a:latin typeface="Pretendard"/>
              </a:rPr>
              <a:t>Sports</a:t>
            </a:r>
            <a:r>
              <a:rPr sz="1250" b="0">
                <a:solidFill>
                  <a:srgbClr val="6B7280"/>
                </a:solidFill>
                <a:latin typeface="Pretendard"/>
              </a:rPr>
              <a:t>)   </a:t>
            </a:r>
            <a:r>
              <a:rPr sz="1250" b="0">
                <a:solidFill>
                  <a:srgbClr val="374151"/>
                </a:solidFill>
                <a:latin typeface="Pretendard"/>
              </a:rPr>
              <a:t>"Giddy Phelps Touches Gold for First Time Michael Phelps won the gold medal in the 400 individual medley and set a world record in a time of 4 minutes 8.26 seconds."</a:t>
            </a:r>
          </a:p>
        </p:txBody>
      </p:sp>
      <p:pic>
        <p:nvPicPr>
          <p:cNvPr id="5" name="Picture 4" descr="fig_mechanism_en.png"/>
          <p:cNvPicPr>
            <a:picLocks noChangeAspect="1"/>
          </p:cNvPicPr>
          <p:nvPr/>
        </p:nvPicPr>
        <p:blipFill>
          <a:blip r:embed="rId3"/>
          <a:stretch>
            <a:fillRect/>
          </a:stretch>
        </p:blipFill>
        <p:spPr>
          <a:xfrm>
            <a:off x="1676094" y="2066544"/>
            <a:ext cx="8839506" cy="3157456"/>
          </a:xfrm>
          <a:prstGeom prst="rect">
            <a:avLst/>
          </a:prstGeom>
        </p:spPr>
      </p:pic>
      <p:sp>
        <p:nvSpPr>
          <p:cNvPr id="6" name="TextBox 5"/>
          <p:cNvSpPr txBox="1"/>
          <p:nvPr/>
        </p:nvSpPr>
        <p:spPr>
          <a:xfrm>
            <a:off x="457200" y="5577840"/>
            <a:ext cx="11277295" cy="1417320"/>
          </a:xfrm>
          <a:prstGeom prst="rect">
            <a:avLst/>
          </a:prstGeom>
          <a:noFill/>
        </p:spPr>
        <p:txBody>
          <a:bodyPr wrap="square" lIns="0" tIns="0" rIns="0" bIns="0" anchor="t">
            <a:spAutoFit/>
          </a:bodyPr>
          <a:lstStyle/>
          <a:p>
            <a:pPr marL="274320" indent="-274320">
              <a:lnSpc>
                <a:spcPct val="125000"/>
              </a:lnSpc>
              <a:spcAft>
                <a:spcPts val="500"/>
              </a:spcAft>
              <a:buFont typeface="Arial"/>
              <a:buChar char="•"/>
            </a:pPr>
            <a:r>
              <a:rPr sz="1400" b="1" dirty="0">
                <a:solidFill>
                  <a:srgbClr val="111827"/>
                </a:solidFill>
                <a:latin typeface="Pretendard"/>
              </a:rPr>
              <a:t>PE on/off</a:t>
            </a:r>
            <a:r>
              <a:rPr sz="1400" b="0" dirty="0">
                <a:solidFill>
                  <a:srgbClr val="374151"/>
                </a:solidFill>
                <a:latin typeface="Pretendard"/>
              </a:rPr>
              <a:t>  with-PE 0.910 vs no-PE 0.911 (diff -0.001), word order barely matters</a:t>
            </a:r>
          </a:p>
          <a:p>
            <a:pPr marL="274320" indent="-274320">
              <a:lnSpc>
                <a:spcPct val="125000"/>
              </a:lnSpc>
              <a:spcAft>
                <a:spcPts val="500"/>
              </a:spcAft>
              <a:buFont typeface="Arial"/>
              <a:buChar char="•"/>
            </a:pPr>
            <a:r>
              <a:rPr sz="1400" b="1" dirty="0">
                <a:solidFill>
                  <a:srgbClr val="111827"/>
                </a:solidFill>
                <a:latin typeface="Pretendard"/>
              </a:rPr>
              <a:t>robustness</a:t>
            </a:r>
            <a:r>
              <a:rPr sz="1400" b="0" dirty="0">
                <a:solidFill>
                  <a:srgbClr val="374151"/>
                </a:solidFill>
                <a:latin typeface="Pretendard"/>
              </a:rPr>
              <a:t>  LSTM relies on off-topic 'giddy' and misclassifies; Transformer distributes evidence over topical tokens and classifies correctly</a:t>
            </a:r>
          </a:p>
        </p:txBody>
      </p:sp>
      <p:sp>
        <p:nvSpPr>
          <p:cNvPr id="7" name="TextBox 6"/>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274320"/>
          </a:xfrm>
          <a:prstGeom prst="rect">
            <a:avLst/>
          </a:prstGeom>
          <a:noFill/>
        </p:spPr>
        <p:txBody>
          <a:bodyPr wrap="square" lIns="0" tIns="0" rIns="0" bIns="0" anchor="t">
            <a:spAutoFit/>
          </a:bodyPr>
          <a:lstStyle/>
          <a:p>
            <a:r>
              <a:rPr sz="1250" b="0">
                <a:solidFill>
                  <a:srgbClr val="BFC6D0"/>
                </a:solidFill>
                <a:latin typeface="Pretendard"/>
              </a:rPr>
              <a:t>Background     Method     Results     </a:t>
            </a:r>
            <a:r>
              <a:rPr sz="1250" b="1">
                <a:solidFill>
                  <a:srgbClr val="1D4ED8"/>
                </a:solidFill>
                <a:latin typeface="Pretendard"/>
              </a:rPr>
              <a:t>Conclusion</a:t>
            </a:r>
          </a:p>
        </p:txBody>
      </p:sp>
      <p:sp>
        <p:nvSpPr>
          <p:cNvPr id="3" name="TextBox 2"/>
          <p:cNvSpPr txBox="1"/>
          <p:nvPr/>
        </p:nvSpPr>
        <p:spPr>
          <a:xfrm>
            <a:off x="457200" y="676656"/>
            <a:ext cx="11277295" cy="548640"/>
          </a:xfrm>
          <a:prstGeom prst="rect">
            <a:avLst/>
          </a:prstGeom>
          <a:noFill/>
        </p:spPr>
        <p:txBody>
          <a:bodyPr wrap="square" lIns="0" tIns="0" rIns="0" bIns="0" anchor="t">
            <a:spAutoFit/>
          </a:bodyPr>
          <a:lstStyle/>
          <a:p>
            <a:pPr>
              <a:lnSpc>
                <a:spcPct val="100000"/>
              </a:lnSpc>
            </a:pPr>
            <a:r>
              <a:rPr sz="2100" b="1">
                <a:solidFill>
                  <a:srgbClr val="111827"/>
                </a:solidFill>
                <a:latin typeface="Pretendard"/>
              </a:rPr>
              <a:t>Under identical conditions, </a:t>
            </a:r>
            <a:r>
              <a:rPr sz="2100" b="1">
                <a:solidFill>
                  <a:srgbClr val="1D4ED8"/>
                </a:solidFill>
                <a:latin typeface="Pretendard"/>
              </a:rPr>
              <a:t>Transformer wins</a:t>
            </a:r>
            <a:r>
              <a:rPr sz="2100" b="1">
                <a:solidFill>
                  <a:srgbClr val="111827"/>
                </a:solidFill>
                <a:latin typeface="Pretendard"/>
              </a:rPr>
              <a:t>, cause is generalization</a:t>
            </a:r>
          </a:p>
        </p:txBody>
      </p:sp>
      <p:sp>
        <p:nvSpPr>
          <p:cNvPr id="4" name="TextBox 3"/>
          <p:cNvSpPr txBox="1"/>
          <p:nvPr/>
        </p:nvSpPr>
        <p:spPr>
          <a:xfrm>
            <a:off x="457200" y="1463040"/>
            <a:ext cx="11277295" cy="4754880"/>
          </a:xfrm>
          <a:prstGeom prst="rect">
            <a:avLst/>
          </a:prstGeom>
          <a:noFill/>
        </p:spPr>
        <p:txBody>
          <a:bodyPr wrap="square" lIns="0" tIns="0" rIns="0" bIns="0" anchor="t">
            <a:spAutoFit/>
          </a:bodyPr>
          <a:lstStyle/>
          <a:p>
            <a:pPr>
              <a:spcBef>
                <a:spcPts val="0"/>
              </a:spcBef>
              <a:spcAft>
                <a:spcPts val="700"/>
              </a:spcAft>
            </a:pPr>
            <a:r>
              <a:rPr sz="1550" b="1">
                <a:solidFill>
                  <a:srgbClr val="1D4ED8"/>
                </a:solidFill>
                <a:latin typeface="Pretendard"/>
              </a:rPr>
              <a:t>Performance</a:t>
            </a:r>
          </a:p>
          <a:p>
            <a:pPr marL="274320" indent="-274320">
              <a:lnSpc>
                <a:spcPct val="125000"/>
              </a:lnSpc>
              <a:spcAft>
                <a:spcPts val="500"/>
              </a:spcAft>
              <a:buFont typeface="Arial"/>
              <a:buChar char="•"/>
            </a:pPr>
            <a:r>
              <a:rPr sz="1400" b="0">
                <a:solidFill>
                  <a:srgbClr val="374151"/>
                </a:solidFill>
                <a:latin typeface="Pretendard"/>
              </a:rPr>
              <a:t>test accuracy </a:t>
            </a:r>
            <a:r>
              <a:rPr sz="1400" b="1">
                <a:solidFill>
                  <a:srgbClr val="111827"/>
                </a:solidFill>
                <a:latin typeface="Pretendard"/>
              </a:rPr>
              <a:t>0.910 vs 0.833</a:t>
            </a:r>
            <a:r>
              <a:rPr sz="1400" b="0">
                <a:solidFill>
                  <a:srgbClr val="374151"/>
                </a:solidFill>
                <a:latin typeface="Pretendard"/>
              </a:rPr>
              <a:t> under identical conditions (controlled comparison, only the encoder changed)</a:t>
            </a:r>
          </a:p>
          <a:p>
            <a:pPr>
              <a:spcBef>
                <a:spcPts val="1200"/>
              </a:spcBef>
              <a:spcAft>
                <a:spcPts val="700"/>
              </a:spcAft>
            </a:pPr>
            <a:r>
              <a:rPr sz="1550" b="1">
                <a:solidFill>
                  <a:srgbClr val="1D4ED8"/>
                </a:solidFill>
                <a:latin typeface="Pretendard"/>
              </a:rPr>
              <a:t>Cause (mechanism difference)</a:t>
            </a:r>
          </a:p>
          <a:p>
            <a:pPr marL="274320" indent="-274320">
              <a:lnSpc>
                <a:spcPct val="125000"/>
              </a:lnSpc>
              <a:spcAft>
                <a:spcPts val="500"/>
              </a:spcAft>
              <a:buFont typeface="Arial"/>
              <a:buChar char="•"/>
            </a:pPr>
            <a:r>
              <a:rPr sz="1400" b="1">
                <a:solidFill>
                  <a:srgbClr val="1D4ED8"/>
                </a:solidFill>
                <a:latin typeface="Pretendard"/>
              </a:rPr>
              <a:t>Transformer</a:t>
            </a:r>
            <a:r>
              <a:rPr sz="1400" b="0">
                <a:solidFill>
                  <a:srgbClr val="374151"/>
                </a:solidFill>
                <a:latin typeface="Pretendard"/>
              </a:rPr>
              <a:t>: self-attention distributes evidence across tokens → robust, stable scaling</a:t>
            </a:r>
          </a:p>
          <a:p>
            <a:pPr marL="274320" indent="-274320">
              <a:lnSpc>
                <a:spcPct val="125000"/>
              </a:lnSpc>
              <a:spcAft>
                <a:spcPts val="500"/>
              </a:spcAft>
              <a:buFont typeface="Arial"/>
              <a:buChar char="•"/>
            </a:pPr>
            <a:r>
              <a:rPr sz="1400" b="1">
                <a:solidFill>
                  <a:srgbClr val="6B7280"/>
                </a:solidFill>
                <a:latin typeface="Pretendard"/>
              </a:rPr>
              <a:t>LSTM</a:t>
            </a:r>
            <a:r>
              <a:rPr sz="1400" b="0">
                <a:solidFill>
                  <a:srgbClr val="374151"/>
                </a:solidFill>
                <a:latin typeface="Pretendard"/>
              </a:rPr>
              <a:t>: recurrence relies on specific tokens → overfitting, saturation at 25%</a:t>
            </a:r>
          </a:p>
          <a:p>
            <a:pPr marL="274320" indent="-274320">
              <a:lnSpc>
                <a:spcPct val="125000"/>
              </a:lnSpc>
              <a:spcAft>
                <a:spcPts val="500"/>
              </a:spcAft>
              <a:buFont typeface="Arial"/>
              <a:buChar char="•"/>
            </a:pPr>
            <a:r>
              <a:rPr sz="1400" b="0">
                <a:solidFill>
                  <a:srgbClr val="374151"/>
                </a:solidFill>
                <a:latin typeface="Pretendard"/>
              </a:rPr>
              <a:t>the generalization gap between the two mechanisms drives the performance gap</a:t>
            </a:r>
          </a:p>
          <a:p>
            <a:pPr>
              <a:spcBef>
                <a:spcPts val="1200"/>
              </a:spcBef>
              <a:spcAft>
                <a:spcPts val="700"/>
              </a:spcAft>
            </a:pPr>
            <a:r>
              <a:rPr sz="1550" b="1">
                <a:solidFill>
                  <a:srgbClr val="1D4ED8"/>
                </a:solidFill>
                <a:latin typeface="Pretendard"/>
              </a:rPr>
              <a:t>Task nature</a:t>
            </a:r>
          </a:p>
          <a:p>
            <a:pPr marL="274320" indent="-274320">
              <a:lnSpc>
                <a:spcPct val="125000"/>
              </a:lnSpc>
              <a:spcAft>
                <a:spcPts val="500"/>
              </a:spcAft>
              <a:buFont typeface="Arial"/>
              <a:buChar char="•"/>
            </a:pPr>
            <a:r>
              <a:rPr sz="1400" b="1">
                <a:solidFill>
                  <a:srgbClr val="111827"/>
                </a:solidFill>
                <a:latin typeface="Pretendard"/>
              </a:rPr>
              <a:t>bag-of-words</a:t>
            </a:r>
            <a:r>
              <a:rPr sz="1400" b="0">
                <a:solidFill>
                  <a:srgbClr val="374151"/>
                </a:solidFill>
                <a:latin typeface="Pretendard"/>
              </a:rPr>
              <a:t>: removing positional encoding leaves accuracy unchanged, the gap is robustness not order</a:t>
            </a:r>
          </a:p>
          <a:p>
            <a:pPr>
              <a:spcBef>
                <a:spcPts val="1200"/>
              </a:spcBef>
              <a:spcAft>
                <a:spcPts val="700"/>
              </a:spcAft>
            </a:pPr>
            <a:r>
              <a:rPr sz="1550" b="1">
                <a:solidFill>
                  <a:srgbClr val="1D4ED8"/>
                </a:solidFill>
                <a:latin typeface="Pretendard"/>
              </a:rPr>
              <a:t>Limitations · future</a:t>
            </a:r>
          </a:p>
          <a:p>
            <a:pPr marL="274320" indent="-274320">
              <a:lnSpc>
                <a:spcPct val="125000"/>
              </a:lnSpc>
              <a:spcAft>
                <a:spcPts val="500"/>
              </a:spcAft>
              <a:buFont typeface="Arial"/>
              <a:buChar char="•"/>
            </a:pPr>
            <a:r>
              <a:rPr sz="1400" b="0">
                <a:solidFill>
                  <a:srgbClr val="374151"/>
                </a:solidFill>
                <a:latin typeface="Pretendard"/>
              </a:rPr>
              <a:t>single seed → confirm with multiple seeds, strengthen LSTM regularization</a:t>
            </a:r>
          </a:p>
          <a:p>
            <a:pPr marL="274320" indent="-274320">
              <a:lnSpc>
                <a:spcPct val="125000"/>
              </a:lnSpc>
              <a:spcAft>
                <a:spcPts val="500"/>
              </a:spcAft>
              <a:buFont typeface="Arial"/>
              <a:buChar char="•"/>
            </a:pPr>
            <a:r>
              <a:rPr sz="1400" b="0">
                <a:solidFill>
                  <a:srgbClr val="374151"/>
                </a:solidFill>
                <a:latin typeface="Pretendard"/>
              </a:rPr>
              <a:t>re-examine positional encoding on order-sensitive tasks</a:t>
            </a:r>
          </a:p>
        </p:txBody>
      </p:sp>
      <p:sp>
        <p:nvSpPr>
          <p:cNvPr id="5" name="TextBox 4"/>
          <p:cNvSpPr txBox="1"/>
          <p:nvPr/>
        </p:nvSpPr>
        <p:spPr>
          <a:xfrm>
            <a:off x="10881360" y="6510528"/>
            <a:ext cx="1005840" cy="237744"/>
          </a:xfrm>
          <a:prstGeom prst="rect">
            <a:avLst/>
          </a:prstGeom>
          <a:noFill/>
        </p:spPr>
        <p:txBody>
          <a:bodyPr wrap="square" lIns="0" tIns="0" rIns="0" bIns="0" anchor="t">
            <a:spAutoFit/>
          </a:bodyPr>
          <a:lstStyle/>
          <a:p>
            <a:pPr algn="r"/>
            <a:r>
              <a:rPr sz="950" b="0">
                <a:solidFill>
                  <a:srgbClr val="AAB2BD"/>
                </a:solidFill>
                <a:latin typeface="Pretendard"/>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1788</Words>
  <Application>Microsoft Macintosh PowerPoint</Application>
  <PresentationFormat>와이드스크린</PresentationFormat>
  <Paragraphs>122</Paragraphs>
  <Slides>10</Slides>
  <Notes>10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10</vt:i4>
      </vt:variant>
    </vt:vector>
  </HeadingPairs>
  <TitlesOfParts>
    <vt:vector size="17" baseType="lpstr">
      <vt:lpstr>맑은 고딕</vt:lpstr>
      <vt:lpstr>Pretendard</vt:lpstr>
      <vt:lpstr>Pretendard SemiBold</vt:lpstr>
      <vt:lpstr>Arial</vt:lpstr>
      <vt:lpstr>Calibri</vt:lpstr>
      <vt:lpstr>Helvetica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jihun jang</cp:lastModifiedBy>
  <cp:revision>2</cp:revision>
  <dcterms:created xsi:type="dcterms:W3CDTF">2013-01-27T09:14:16Z</dcterms:created>
  <dcterms:modified xsi:type="dcterms:W3CDTF">2026-06-20T12:07:22Z</dcterms:modified>
  <cp:category/>
</cp:coreProperties>
</file>