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45"/>
    <p:restoredTop sz="94689"/>
  </p:normalViewPr>
  <p:slideViewPr>
    <p:cSldViewPr snapToGrid="0" snapToObjects="1">
      <p:cViewPr varScale="1">
        <p:scale>
          <a:sx n="147" d="100"/>
          <a:sy n="147" d="100"/>
        </p:scale>
        <p:origin x="296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621792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400" b="1">
                <a:solidFill>
                  <a:srgbClr val="1D4ED8"/>
                </a:solidFill>
                <a:latin typeface="Pretendard"/>
              </a:rPr>
              <a:t>DEEP LEARNING · TERM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621792"/>
            <a:ext cx="27432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400" b="0">
                <a:solidFill>
                  <a:srgbClr val="6B7280"/>
                </a:solidFill>
                <a:latin typeface="Pretendard"/>
              </a:rPr>
              <a:t>2026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1097280"/>
            <a:ext cx="10515600" cy="0"/>
          </a:xfrm>
          <a:prstGeom prst="line">
            <a:avLst/>
          </a:prstGeom>
          <a:ln w="1270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5000" b="1">
                <a:solidFill>
                  <a:srgbClr val="111827"/>
                </a:solidFill>
                <a:latin typeface="Pretendard"/>
              </a:rPr>
              <a:t>LSTM </a:t>
            </a:r>
            <a:r>
              <a:rPr sz="5000" b="1">
                <a:solidFill>
                  <a:srgbClr val="1D4ED8"/>
                </a:solidFill>
                <a:latin typeface="Pretendard"/>
              </a:rPr>
              <a:t>vs</a:t>
            </a:r>
            <a:r>
              <a:rPr sz="5000" b="1">
                <a:solidFill>
                  <a:srgbClr val="111827"/>
                </a:solidFill>
                <a:latin typeface="Pretendard"/>
              </a:rPr>
              <a:t> Transformer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07792"/>
            <a:ext cx="105156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en-US" sz="320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두 시퀀스 인코더</a:t>
            </a:r>
            <a:r>
              <a:rPr sz="310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, </a:t>
            </a:r>
            <a:r>
              <a:rPr lang="en" altLang="ko-KR" sz="320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AG News 4-class </a:t>
            </a:r>
            <a:r>
              <a:rPr lang="ko-KR" altLang="en-US" sz="3200" b="1" dirty="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주제 분류 비교 실험</a:t>
            </a:r>
            <a:endParaRPr sz="3100" b="1" dirty="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9" name="Connector 8"/>
          <p:cNvCxnSpPr/>
          <p:nvPr/>
        </p:nvCxnSpPr>
        <p:spPr>
          <a:xfrm>
            <a:off x="822960" y="4956048"/>
            <a:ext cx="10515600" cy="0"/>
          </a:xfrm>
          <a:prstGeom prst="line">
            <a:avLst/>
          </a:prstGeom>
          <a:ln w="12700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5248656"/>
            <a:ext cx="141732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ko-KR" altLang="en-US" sz="1500" b="1" dirty="0">
                <a:solidFill>
                  <a:srgbClr val="1D4ED8"/>
                </a:solidFill>
                <a:latin typeface="Pretendard"/>
              </a:rPr>
              <a:t>팀</a:t>
            </a:r>
            <a:endParaRPr sz="1500" b="1" dirty="0">
              <a:solidFill>
                <a:srgbClr val="1D4ED8"/>
              </a:solidFill>
              <a:latin typeface="Pretendard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240280" y="5230368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700" b="1" dirty="0">
                <a:solidFill>
                  <a:srgbClr val="111827"/>
                </a:solidFill>
                <a:latin typeface="Pretendard"/>
              </a:rPr>
              <a:t>장지훈</a:t>
            </a:r>
            <a:r>
              <a:rPr sz="1300" b="0" dirty="0">
                <a:solidFill>
                  <a:srgbClr val="6B7280"/>
                </a:solidFill>
                <a:latin typeface="Pretendard"/>
              </a:rPr>
              <a:t>   (ETRI School · 02521122)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33872"/>
            <a:ext cx="1417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500" b="1">
                <a:solidFill>
                  <a:srgbClr val="1D4ED8"/>
                </a:solidFill>
                <a:latin typeface="Pretendard"/>
              </a:rPr>
              <a:t>소속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5815584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600" b="0">
                <a:solidFill>
                  <a:srgbClr val="374151"/>
                </a:solidFill>
                <a:latin typeface="Pretendard SemiBold"/>
              </a:rPr>
              <a:t>과학기술연합대학원대학교 ETRI 스쿨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Pretendard"/>
              </a:rPr>
              <a:t>배경</a:t>
            </a:r>
            <a:r>
              <a:rPr sz="1250" b="0">
                <a:solidFill>
                  <a:srgbClr val="BFC6D0"/>
                </a:solidFill>
                <a:latin typeface="Pretendard"/>
              </a:rPr>
              <a:t>     방법     결과    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7729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100" b="1">
                <a:solidFill>
                  <a:srgbClr val="111827"/>
                </a:solidFill>
                <a:latin typeface="Pretendard"/>
              </a:rPr>
              <a:t>정확도 경쟁이 아니라, </a:t>
            </a:r>
            <a:r>
              <a:rPr sz="2100" b="1">
                <a:solidFill>
                  <a:srgbClr val="1D4ED8"/>
                </a:solidFill>
                <a:latin typeface="Pretendard"/>
              </a:rPr>
              <a:t>두 구조가 왜 다른지</a:t>
            </a:r>
            <a:r>
              <a:rPr sz="2100" b="1">
                <a:solidFill>
                  <a:srgbClr val="111827"/>
                </a:solidFill>
                <a:latin typeface="Pretendard"/>
              </a:rPr>
              <a:t>를 규명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3442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50" b="1" dirty="0" err="1">
                <a:solidFill>
                  <a:srgbClr val="1D4ED8"/>
                </a:solidFill>
                <a:latin typeface="Pretendard"/>
              </a:rPr>
              <a:t>과제</a:t>
            </a:r>
            <a:endParaRPr sz="1650" b="1" dirty="0">
              <a:solidFill>
                <a:srgbClr val="1D4ED8"/>
              </a:solidFill>
              <a:latin typeface="Pretendard"/>
            </a:endParaRP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500" b="1" dirty="0">
                <a:solidFill>
                  <a:srgbClr val="111827"/>
                </a:solidFill>
                <a:latin typeface="Pretendard"/>
              </a:rPr>
              <a:t>AG News 4-class </a:t>
            </a:r>
            <a:r>
              <a:rPr sz="1500" b="1" dirty="0" err="1">
                <a:solidFill>
                  <a:srgbClr val="111827"/>
                </a:solidFill>
                <a:latin typeface="Pretendard"/>
              </a:rPr>
              <a:t>뉴스</a:t>
            </a:r>
            <a:r>
              <a:rPr sz="1500" b="1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500" b="1" dirty="0" err="1">
                <a:solidFill>
                  <a:srgbClr val="111827"/>
                </a:solidFill>
                <a:latin typeface="Pretendard"/>
              </a:rPr>
              <a:t>주제</a:t>
            </a:r>
            <a:r>
              <a:rPr sz="1500" b="1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500" b="1" dirty="0" err="1">
                <a:solidFill>
                  <a:srgbClr val="111827"/>
                </a:solidFill>
                <a:latin typeface="Pretendard"/>
              </a:rPr>
              <a:t>분류</a:t>
            </a:r>
            <a:r>
              <a:rPr sz="1500" b="0" dirty="0">
                <a:solidFill>
                  <a:srgbClr val="374151"/>
                </a:solidFill>
                <a:latin typeface="Pretendard"/>
              </a:rPr>
              <a:t> (</a:t>
            </a:r>
            <a:r>
              <a:rPr sz="1500" b="0" dirty="0" err="1">
                <a:solidFill>
                  <a:srgbClr val="374151"/>
                </a:solidFill>
                <a:latin typeface="Pretendard"/>
              </a:rPr>
              <a:t>World·Sports·Business·Sci-Tech</a:t>
            </a:r>
            <a:r>
              <a:rPr sz="1500" b="0" dirty="0">
                <a:solidFill>
                  <a:srgbClr val="374151"/>
                </a:solidFill>
                <a:latin typeface="Pretendard"/>
              </a:rPr>
              <a:t>)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500" b="0" dirty="0" err="1">
                <a:solidFill>
                  <a:srgbClr val="374151"/>
                </a:solidFill>
                <a:latin typeface="Pretendard"/>
              </a:rPr>
              <a:t>LSTM과</a:t>
            </a:r>
            <a:r>
              <a:rPr sz="1500" b="0" dirty="0">
                <a:solidFill>
                  <a:srgbClr val="374151"/>
                </a:solidFill>
                <a:latin typeface="Pretendard"/>
              </a:rPr>
              <a:t> Transformer </a:t>
            </a:r>
            <a:r>
              <a:rPr sz="1500" b="0" dirty="0" err="1">
                <a:solidFill>
                  <a:srgbClr val="374151"/>
                </a:solidFill>
                <a:latin typeface="Pretendard"/>
              </a:rPr>
              <a:t>Encoder를</a:t>
            </a:r>
            <a:r>
              <a:rPr sz="15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500" b="0" dirty="0" err="1">
                <a:solidFill>
                  <a:srgbClr val="374151"/>
                </a:solidFill>
                <a:latin typeface="Pretendard"/>
              </a:rPr>
              <a:t>모두</a:t>
            </a:r>
            <a:r>
              <a:rPr sz="1500" b="0" dirty="0">
                <a:solidFill>
                  <a:srgbClr val="374151"/>
                </a:solidFill>
                <a:latin typeface="Pretendard"/>
              </a:rPr>
              <a:t> from </a:t>
            </a:r>
            <a:r>
              <a:rPr sz="1500" b="0" dirty="0" err="1">
                <a:solidFill>
                  <a:srgbClr val="374151"/>
                </a:solidFill>
                <a:latin typeface="Pretendard"/>
              </a:rPr>
              <a:t>scratch로</a:t>
            </a:r>
            <a:r>
              <a:rPr sz="15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500" b="0" dirty="0" err="1">
                <a:solidFill>
                  <a:srgbClr val="374151"/>
                </a:solidFill>
                <a:latin typeface="Pretendard"/>
              </a:rPr>
              <a:t>학습</a:t>
            </a:r>
            <a:endParaRPr sz="1500" b="0" dirty="0">
              <a:solidFill>
                <a:srgbClr val="374151"/>
              </a:solidFill>
              <a:latin typeface="Pretendard"/>
            </a:endParaRPr>
          </a:p>
          <a:p>
            <a:pPr>
              <a:spcBef>
                <a:spcPts val="1500"/>
              </a:spcBef>
              <a:spcAft>
                <a:spcPts val="700"/>
              </a:spcAft>
            </a:pPr>
            <a:r>
              <a:rPr sz="1650" b="1" dirty="0" err="1">
                <a:solidFill>
                  <a:srgbClr val="1D4ED8"/>
                </a:solidFill>
                <a:latin typeface="Pretendard"/>
              </a:rPr>
              <a:t>방법</a:t>
            </a:r>
            <a:endParaRPr sz="1650" b="1" dirty="0">
              <a:solidFill>
                <a:srgbClr val="1D4ED8"/>
              </a:solidFill>
              <a:latin typeface="Pretendard"/>
            </a:endParaRP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500" b="1" dirty="0" err="1">
                <a:solidFill>
                  <a:srgbClr val="111827"/>
                </a:solidFill>
                <a:latin typeface="Pretendard"/>
              </a:rPr>
              <a:t>데이터·전처리·어휘·시퀀스</a:t>
            </a:r>
            <a:r>
              <a:rPr sz="1500" b="1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500" b="1" dirty="0" err="1">
                <a:solidFill>
                  <a:srgbClr val="111827"/>
                </a:solidFill>
                <a:latin typeface="Pretendard"/>
              </a:rPr>
              <a:t>길이·학습</a:t>
            </a:r>
            <a:r>
              <a:rPr sz="1500" b="1" dirty="0">
                <a:solidFill>
                  <a:srgbClr val="111827"/>
                </a:solidFill>
                <a:latin typeface="Pretendard"/>
              </a:rPr>
              <a:t> </a:t>
            </a:r>
            <a:r>
              <a:rPr sz="1500" b="1" dirty="0" err="1">
                <a:solidFill>
                  <a:srgbClr val="111827"/>
                </a:solidFill>
                <a:latin typeface="Pretendard"/>
              </a:rPr>
              <a:t>예산</a:t>
            </a:r>
            <a:r>
              <a:rPr sz="1500" b="0" dirty="0" err="1">
                <a:solidFill>
                  <a:srgbClr val="374151"/>
                </a:solidFill>
                <a:latin typeface="Pretendard"/>
              </a:rPr>
              <a:t>을</a:t>
            </a:r>
            <a:r>
              <a:rPr sz="15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500" b="0" dirty="0" err="1">
                <a:solidFill>
                  <a:srgbClr val="374151"/>
                </a:solidFill>
                <a:latin typeface="Pretendard"/>
              </a:rPr>
              <a:t>동일하게</a:t>
            </a:r>
            <a:r>
              <a:rPr sz="15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500" b="0" dirty="0" err="1">
                <a:solidFill>
                  <a:srgbClr val="374151"/>
                </a:solidFill>
                <a:latin typeface="Pretendard"/>
              </a:rPr>
              <a:t>고정</a:t>
            </a:r>
            <a:endParaRPr sz="1500" b="0" dirty="0">
              <a:solidFill>
                <a:srgbClr val="374151"/>
              </a:solidFill>
              <a:latin typeface="Pretendard"/>
            </a:endParaRP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500" b="0" dirty="0">
                <a:solidFill>
                  <a:srgbClr val="374151"/>
                </a:solidFill>
                <a:latin typeface="Pretendard"/>
              </a:rPr>
              <a:t>encoder</a:t>
            </a:r>
            <a:r>
              <a:rPr lang="ko-KR" altLang="en-US" sz="1500" b="0" dirty="0">
                <a:solidFill>
                  <a:srgbClr val="374151"/>
                </a:solidFill>
                <a:latin typeface="Pretendard"/>
              </a:rPr>
              <a:t>는 </a:t>
            </a:r>
            <a:r>
              <a:rPr lang="ko-KR" altLang="en-US" sz="1500" b="0" dirty="0" err="1">
                <a:solidFill>
                  <a:srgbClr val="374151"/>
                </a:solidFill>
                <a:latin typeface="Pretendard"/>
              </a:rPr>
              <a:t>아키텍쳐별</a:t>
            </a:r>
            <a:r>
              <a:rPr lang="ko-KR" altLang="en-US" sz="1500" b="0" dirty="0">
                <a:solidFill>
                  <a:srgbClr val="374151"/>
                </a:solidFill>
                <a:latin typeface="Pretendard"/>
              </a:rPr>
              <a:t> 상이</a:t>
            </a:r>
            <a:endParaRPr sz="1500" b="0" dirty="0">
              <a:solidFill>
                <a:srgbClr val="374151"/>
              </a:solidFill>
              <a:latin typeface="Pretendard"/>
            </a:endParaRPr>
          </a:p>
          <a:p>
            <a:pPr>
              <a:spcBef>
                <a:spcPts val="1500"/>
              </a:spcBef>
              <a:spcAft>
                <a:spcPts val="700"/>
              </a:spcAft>
            </a:pPr>
            <a:r>
              <a:rPr sz="1650" b="1" dirty="0" err="1">
                <a:solidFill>
                  <a:srgbClr val="1D4ED8"/>
                </a:solidFill>
                <a:latin typeface="Pretendard"/>
              </a:rPr>
              <a:t>질문</a:t>
            </a:r>
            <a:endParaRPr sz="1650" b="1" dirty="0">
              <a:solidFill>
                <a:srgbClr val="1D4ED8"/>
              </a:solidFill>
              <a:latin typeface="Pretendard"/>
            </a:endParaRP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500" b="1" dirty="0" err="1">
                <a:solidFill>
                  <a:srgbClr val="374151"/>
                </a:solidFill>
                <a:latin typeface="Pretendard"/>
              </a:rPr>
              <a:t>성능·수렴·data</a:t>
            </a:r>
            <a:r>
              <a:rPr sz="1500" b="1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500" b="1" dirty="0" err="1">
                <a:solidFill>
                  <a:srgbClr val="374151"/>
                </a:solidFill>
                <a:latin typeface="Pretendard"/>
              </a:rPr>
              <a:t>efficiency·오분류</a:t>
            </a:r>
            <a:r>
              <a:rPr sz="1500" b="1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500" b="1" dirty="0" err="1">
                <a:solidFill>
                  <a:srgbClr val="374151"/>
                </a:solidFill>
                <a:latin typeface="Pretendard"/>
              </a:rPr>
              <a:t>양상</a:t>
            </a:r>
            <a:r>
              <a:rPr sz="1500" b="0" dirty="0" err="1">
                <a:solidFill>
                  <a:srgbClr val="374151"/>
                </a:solidFill>
                <a:latin typeface="Pretendard"/>
              </a:rPr>
              <a:t>이</a:t>
            </a:r>
            <a:r>
              <a:rPr sz="15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500" b="0" dirty="0" err="1">
                <a:solidFill>
                  <a:srgbClr val="374151"/>
                </a:solidFill>
                <a:latin typeface="Pretendard"/>
              </a:rPr>
              <a:t>어떻게</a:t>
            </a:r>
            <a:r>
              <a:rPr sz="15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500" b="0" dirty="0" err="1">
                <a:solidFill>
                  <a:srgbClr val="374151"/>
                </a:solidFill>
                <a:latin typeface="Pretendard"/>
              </a:rPr>
              <a:t>다른가</a:t>
            </a:r>
            <a:endParaRPr sz="1500" b="0" dirty="0">
              <a:solidFill>
                <a:srgbClr val="374151"/>
              </a:solidFill>
              <a:latin typeface="Pretendard"/>
            </a:endParaRP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500" b="0" dirty="0" err="1">
                <a:solidFill>
                  <a:srgbClr val="374151"/>
                </a:solidFill>
                <a:latin typeface="Pretendard"/>
              </a:rPr>
              <a:t>그리고</a:t>
            </a:r>
            <a:r>
              <a:rPr sz="15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500" b="0" dirty="0" err="1">
                <a:solidFill>
                  <a:srgbClr val="374151"/>
                </a:solidFill>
                <a:latin typeface="Pretendard"/>
              </a:rPr>
              <a:t>그</a:t>
            </a:r>
            <a:r>
              <a:rPr sz="15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500" b="1" dirty="0" err="1">
                <a:solidFill>
                  <a:srgbClr val="374151"/>
                </a:solidFill>
                <a:latin typeface="Pretendard"/>
              </a:rPr>
              <a:t>차이의</a:t>
            </a:r>
            <a:r>
              <a:rPr sz="1500" b="1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500" b="1" dirty="0" err="1">
                <a:solidFill>
                  <a:srgbClr val="374151"/>
                </a:solidFill>
                <a:latin typeface="Pretendard"/>
              </a:rPr>
              <a:t>원인</a:t>
            </a:r>
            <a:r>
              <a:rPr sz="1500" b="0" dirty="0" err="1">
                <a:solidFill>
                  <a:srgbClr val="374151"/>
                </a:solidFill>
                <a:latin typeface="Pretendard"/>
              </a:rPr>
              <a:t>은</a:t>
            </a:r>
            <a:r>
              <a:rPr sz="15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500" b="0" dirty="0" err="1">
                <a:solidFill>
                  <a:srgbClr val="374151"/>
                </a:solidFill>
                <a:latin typeface="Pretendard"/>
              </a:rPr>
              <a:t>무엇인가</a:t>
            </a:r>
            <a:endParaRPr sz="1500" b="0" dirty="0">
              <a:solidFill>
                <a:srgbClr val="374151"/>
              </a:solidFill>
              <a:latin typeface="Pretendard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AAB2BD"/>
                </a:solidFill>
                <a:latin typeface="Pretendard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Pretendard"/>
              </a:rPr>
              <a:t>배경</a:t>
            </a:r>
            <a:r>
              <a:rPr sz="1250" b="0">
                <a:solidFill>
                  <a:srgbClr val="BFC6D0"/>
                </a:solidFill>
                <a:latin typeface="Pretendard"/>
              </a:rPr>
              <a:t>     방법     결과    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7729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100" b="1">
                <a:solidFill>
                  <a:srgbClr val="111827"/>
                </a:solidFill>
                <a:latin typeface="Pretendard"/>
              </a:rPr>
              <a:t>balanced 4-class, 어휘는 </a:t>
            </a:r>
            <a:r>
              <a:rPr sz="2100" b="1">
                <a:solidFill>
                  <a:srgbClr val="1D4ED8"/>
                </a:solidFill>
                <a:latin typeface="Pretendard"/>
              </a:rPr>
              <a:t>train에서만 구축</a:t>
            </a:r>
            <a:r>
              <a:rPr sz="2100" b="1">
                <a:solidFill>
                  <a:srgbClr val="111827"/>
                </a:solidFill>
                <a:latin typeface="Pretendard"/>
              </a:rPr>
              <a:t> (leakage 방지)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754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50" b="1">
                <a:solidFill>
                  <a:srgbClr val="1D4ED8"/>
                </a:solidFill>
                <a:latin typeface="Pretendard"/>
              </a:rPr>
              <a:t>분할 (seed 42)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500" b="1">
                <a:solidFill>
                  <a:srgbClr val="111827"/>
                </a:solidFill>
                <a:latin typeface="Pretendard"/>
              </a:rPr>
              <a:t>Train 108,000 / Validation 12,000 / Test 7,600</a:t>
            </a:r>
          </a:p>
          <a:p>
            <a:pPr>
              <a:spcBef>
                <a:spcPts val="1400"/>
              </a:spcBef>
              <a:spcAft>
                <a:spcPts val="700"/>
              </a:spcAft>
            </a:pPr>
            <a:r>
              <a:rPr sz="1650" b="1">
                <a:solidFill>
                  <a:srgbClr val="1D4ED8"/>
                </a:solidFill>
                <a:latin typeface="Pretendard"/>
              </a:rPr>
              <a:t>클래스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500" b="1">
                <a:solidFill>
                  <a:srgbClr val="111827"/>
                </a:solidFill>
                <a:latin typeface="Pretendard"/>
              </a:rPr>
              <a:t>World · Sports · Business · Sci-Tech</a:t>
            </a:r>
            <a:r>
              <a:rPr sz="1500" b="0">
                <a:solidFill>
                  <a:srgbClr val="374151"/>
                </a:solidFill>
                <a:latin typeface="Pretendard"/>
              </a:rPr>
              <a:t> 4개, balanced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500" b="0">
                <a:solidFill>
                  <a:srgbClr val="374151"/>
                </a:solidFill>
                <a:latin typeface="Pretendard"/>
              </a:rPr>
              <a:t>train 약 27,000 / test 1,900 each</a:t>
            </a:r>
          </a:p>
          <a:p>
            <a:pPr>
              <a:spcBef>
                <a:spcPts val="1400"/>
              </a:spcBef>
              <a:spcAft>
                <a:spcPts val="700"/>
              </a:spcAft>
            </a:pPr>
            <a:r>
              <a:rPr sz="1650" b="1">
                <a:solidFill>
                  <a:srgbClr val="1D4ED8"/>
                </a:solidFill>
                <a:latin typeface="Pretendard"/>
              </a:rPr>
              <a:t>전처리 (두 모델 공통)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500" b="0">
                <a:solidFill>
                  <a:srgbClr val="374151"/>
                </a:solidFill>
                <a:latin typeface="Pretendard"/>
              </a:rPr>
              <a:t>단어 단위 tokenization (소문자화)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500" b="0">
                <a:solidFill>
                  <a:srgbClr val="374151"/>
                </a:solidFill>
                <a:latin typeface="Pretendard"/>
              </a:rPr>
              <a:t>vocabulary: </a:t>
            </a:r>
            <a:r>
              <a:rPr sz="1500" b="1">
                <a:solidFill>
                  <a:srgbClr val="111827"/>
                </a:solidFill>
                <a:latin typeface="Pretendard"/>
              </a:rPr>
              <a:t>train-only</a:t>
            </a:r>
            <a:r>
              <a:rPr sz="1500" b="0">
                <a:solidFill>
                  <a:srgbClr val="374151"/>
                </a:solidFill>
                <a:latin typeface="Pretendard"/>
              </a:rPr>
              <a:t>, 상한 20,000, min frequency 2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500" b="0">
                <a:solidFill>
                  <a:srgbClr val="374151"/>
                </a:solidFill>
                <a:latin typeface="Pretendard"/>
              </a:rPr>
              <a:t>max length 128, padding 위치는 masking으로 무시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AAB2BD"/>
                </a:solidFill>
                <a:latin typeface="Pretendard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0">
                <a:solidFill>
                  <a:srgbClr val="BFC6D0"/>
                </a:solidFill>
                <a:latin typeface="Pretendard"/>
              </a:rPr>
              <a:t>배경     </a:t>
            </a:r>
            <a:r>
              <a:rPr sz="1250" b="1">
                <a:solidFill>
                  <a:srgbClr val="1D4ED8"/>
                </a:solidFill>
                <a:latin typeface="Pretendard"/>
              </a:rPr>
              <a:t>방법</a:t>
            </a:r>
            <a:r>
              <a:rPr sz="1250" b="0">
                <a:solidFill>
                  <a:srgbClr val="BFC6D0"/>
                </a:solidFill>
                <a:latin typeface="Pretendard"/>
              </a:rPr>
              <a:t>     결과    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7729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100" b="1">
                <a:solidFill>
                  <a:srgbClr val="111827"/>
                </a:solidFill>
                <a:latin typeface="Pretendard"/>
              </a:rPr>
              <a:t>공유 골격, </a:t>
            </a:r>
            <a:r>
              <a:rPr sz="2100" b="1">
                <a:solidFill>
                  <a:srgbClr val="1D4ED8"/>
                </a:solidFill>
                <a:latin typeface="Pretendard"/>
              </a:rPr>
              <a:t>encoder의 메커니즘만 다르다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754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1D4ED8"/>
                </a:solidFill>
                <a:latin typeface="Pretendard"/>
              </a:rPr>
              <a:t>공유 골격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1">
                <a:solidFill>
                  <a:srgbClr val="111827"/>
                </a:solidFill>
                <a:latin typeface="Pretendard"/>
              </a:rPr>
              <a:t>Embedding(128) → Encoder → masked mean pooling → Linear(4)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0">
                <a:solidFill>
                  <a:srgbClr val="374151"/>
                </a:solidFill>
                <a:latin typeface="Pretendard"/>
              </a:rPr>
              <a:t>encoder 한 조각만 교체, 나머지는 모두 동일</a:t>
            </a:r>
          </a:p>
          <a:p>
            <a:pPr>
              <a:spcBef>
                <a:spcPts val="1300"/>
              </a:spcBef>
              <a:spcAft>
                <a:spcPts val="700"/>
              </a:spcAft>
            </a:pPr>
            <a:r>
              <a:rPr sz="1550" b="1">
                <a:solidFill>
                  <a:srgbClr val="1D4ED8"/>
                </a:solidFill>
                <a:latin typeface="Pretendard"/>
              </a:rPr>
              <a:t>핵심 메커니즘 (결과 해석의 근거)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1">
                <a:solidFill>
                  <a:srgbClr val="6B7280"/>
                </a:solidFill>
                <a:latin typeface="Pretendard"/>
              </a:rPr>
              <a:t>LSTM</a:t>
            </a:r>
            <a:r>
              <a:rPr sz="1400" b="0">
                <a:solidFill>
                  <a:srgbClr val="374151"/>
                </a:solidFill>
                <a:latin typeface="Pretendard"/>
              </a:rPr>
              <a:t>  토큰을 순차 처리하며 hidden state에 문맥을 누적 (recurrence)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1">
                <a:solidFill>
                  <a:srgbClr val="1D4ED8"/>
                </a:solidFill>
                <a:latin typeface="Pretendard"/>
              </a:rPr>
              <a:t>Transformer</a:t>
            </a:r>
            <a:r>
              <a:rPr sz="1400" b="0">
                <a:solidFill>
                  <a:srgbClr val="374151"/>
                </a:solidFill>
                <a:latin typeface="Pretendard"/>
              </a:rPr>
              <a:t>  모든 토큰을 self-attention으로 직접 연결, 근거를 여러 토큰에 분산</a:t>
            </a:r>
          </a:p>
          <a:p>
            <a:pPr>
              <a:spcBef>
                <a:spcPts val="1300"/>
              </a:spcBef>
              <a:spcAft>
                <a:spcPts val="700"/>
              </a:spcAft>
            </a:pPr>
            <a:r>
              <a:rPr sz="1550" b="1">
                <a:solidFill>
                  <a:srgbClr val="1D4ED8"/>
                </a:solidFill>
                <a:latin typeface="Pretendard"/>
              </a:rPr>
              <a:t>설정 · 규모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1">
                <a:solidFill>
                  <a:srgbClr val="6B7280"/>
                </a:solidFill>
                <a:latin typeface="Pretendard"/>
              </a:rPr>
              <a:t>LSTM</a:t>
            </a:r>
            <a:r>
              <a:rPr sz="1400" b="0">
                <a:solidFill>
                  <a:srgbClr val="374151"/>
                </a:solidFill>
                <a:latin typeface="Pretendard"/>
              </a:rPr>
              <a:t>  bidirectional 2 layers · hidden 128 · params 3,220,484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1">
                <a:solidFill>
                  <a:srgbClr val="1D4ED8"/>
                </a:solidFill>
                <a:latin typeface="Pretendard"/>
              </a:rPr>
              <a:t>Transformer</a:t>
            </a:r>
            <a:r>
              <a:rPr sz="1400" b="0">
                <a:solidFill>
                  <a:srgbClr val="374151"/>
                </a:solidFill>
                <a:latin typeface="Pretendard"/>
              </a:rPr>
              <a:t>  2 layers · 4 heads · FFN 256 · sinusoidal PE · params 2,825,476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0">
                <a:solidFill>
                  <a:srgbClr val="374151"/>
                </a:solidFill>
                <a:latin typeface="Pretendard"/>
              </a:rPr>
              <a:t>임베딩이 지배적이라 두 모델 파라미터는 </a:t>
            </a:r>
            <a:r>
              <a:rPr sz="1400" b="1">
                <a:solidFill>
                  <a:srgbClr val="111827"/>
                </a:solidFill>
                <a:latin typeface="Pretendard"/>
              </a:rPr>
              <a:t>약 14% 차</a:t>
            </a:r>
            <a:r>
              <a:rPr sz="1400" b="0">
                <a:solidFill>
                  <a:srgbClr val="374151"/>
                </a:solidFill>
                <a:latin typeface="Pretendard"/>
              </a:rPr>
              <a:t>로 유사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AAB2BD"/>
                </a:solidFill>
                <a:latin typeface="Pretendard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0">
                <a:solidFill>
                  <a:srgbClr val="BFC6D0"/>
                </a:solidFill>
                <a:latin typeface="Pretendard"/>
              </a:rPr>
              <a:t>배경     </a:t>
            </a:r>
            <a:r>
              <a:rPr sz="1250" b="1">
                <a:solidFill>
                  <a:srgbClr val="1D4ED8"/>
                </a:solidFill>
                <a:latin typeface="Pretendard"/>
              </a:rPr>
              <a:t>방법</a:t>
            </a:r>
            <a:r>
              <a:rPr sz="1250" b="0">
                <a:solidFill>
                  <a:srgbClr val="BFC6D0"/>
                </a:solidFill>
                <a:latin typeface="Pretendard"/>
              </a:rPr>
              <a:t>     결과    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7729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100" b="1">
                <a:solidFill>
                  <a:srgbClr val="111827"/>
                </a:solidFill>
                <a:latin typeface="Pretendard"/>
              </a:rPr>
              <a:t>유일한 변수 = </a:t>
            </a:r>
            <a:r>
              <a:rPr sz="2100" b="1">
                <a:solidFill>
                  <a:srgbClr val="1D4ED8"/>
                </a:solidFill>
                <a:latin typeface="Pretendard"/>
              </a:rPr>
              <a:t>encoder 구조</a:t>
            </a:r>
            <a:r>
              <a:rPr sz="2100" b="1">
                <a:solidFill>
                  <a:srgbClr val="111827"/>
                </a:solidFill>
                <a:latin typeface="Pretendard"/>
              </a:rPr>
              <a:t> (나머지 전부 고정)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754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650" b="1">
                <a:solidFill>
                  <a:srgbClr val="1D4ED8"/>
                </a:solidFill>
                <a:latin typeface="Pretendard"/>
              </a:rPr>
              <a:t>고정 (fair comparison)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500" b="0">
                <a:solidFill>
                  <a:srgbClr val="374151"/>
                </a:solidFill>
                <a:latin typeface="Pretendard"/>
              </a:rPr>
              <a:t>split · tokenizer · vocabulary · max length · pooling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500" b="0">
                <a:solidFill>
                  <a:srgbClr val="374151"/>
                </a:solidFill>
                <a:latin typeface="Pretendard"/>
              </a:rPr>
              <a:t>optimizer · learning rate · batch size · epoch · seed</a:t>
            </a:r>
          </a:p>
          <a:p>
            <a:pPr>
              <a:spcBef>
                <a:spcPts val="1400"/>
              </a:spcBef>
              <a:spcAft>
                <a:spcPts val="700"/>
              </a:spcAft>
            </a:pPr>
            <a:r>
              <a:rPr sz="1650" b="1">
                <a:solidFill>
                  <a:srgbClr val="1D4ED8"/>
                </a:solidFill>
                <a:latin typeface="Pretendard"/>
              </a:rPr>
              <a:t>학습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500" b="0">
                <a:solidFill>
                  <a:srgbClr val="374151"/>
                </a:solidFill>
                <a:latin typeface="Pretendard"/>
              </a:rPr>
              <a:t>Adam, learning rate 0.001, batch 64, 최대 8 epochs, dropout 0.1, seed 42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500" b="0">
                <a:solidFill>
                  <a:srgbClr val="374151"/>
                </a:solidFill>
                <a:latin typeface="Pretendard"/>
              </a:rPr>
              <a:t>model selection은 </a:t>
            </a:r>
            <a:r>
              <a:rPr sz="1500" b="1">
                <a:solidFill>
                  <a:srgbClr val="111827"/>
                </a:solidFill>
                <a:latin typeface="Pretendard"/>
              </a:rPr>
              <a:t>validation</a:t>
            </a:r>
            <a:r>
              <a:rPr sz="1500" b="0">
                <a:solidFill>
                  <a:srgbClr val="374151"/>
                </a:solidFill>
                <a:latin typeface="Pretendard"/>
              </a:rPr>
              <a:t>, test는 1회</a:t>
            </a:r>
          </a:p>
          <a:p>
            <a:pPr>
              <a:spcBef>
                <a:spcPts val="1400"/>
              </a:spcBef>
              <a:spcAft>
                <a:spcPts val="700"/>
              </a:spcAft>
            </a:pPr>
            <a:r>
              <a:rPr sz="1650" b="1">
                <a:solidFill>
                  <a:srgbClr val="1D4ED8"/>
                </a:solidFill>
                <a:latin typeface="Pretendard"/>
              </a:rPr>
              <a:t>Ablation · 지표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500" b="1">
                <a:solidFill>
                  <a:srgbClr val="111827"/>
                </a:solidFill>
                <a:latin typeface="Pretendard"/>
              </a:rPr>
              <a:t>training set 5 / 25 / 50 / 100%</a:t>
            </a:r>
            <a:r>
              <a:rPr sz="1500" b="0">
                <a:solidFill>
                  <a:srgbClr val="374151"/>
                </a:solidFill>
                <a:latin typeface="Pretendard"/>
              </a:rPr>
              <a:t> (vocabulary 고정, stratified, val·test 전체)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500" b="0">
                <a:solidFill>
                  <a:srgbClr val="374151"/>
                </a:solidFill>
                <a:latin typeface="Pretendard"/>
              </a:rPr>
              <a:t>accuracy · macro F1-score · loss curve · confusion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AAB2BD"/>
                </a:solidFill>
                <a:latin typeface="Pretendard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0">
                <a:solidFill>
                  <a:srgbClr val="BFC6D0"/>
                </a:solidFill>
                <a:latin typeface="Pretendard"/>
              </a:rPr>
              <a:t>배경     방법     </a:t>
            </a:r>
            <a:r>
              <a:rPr sz="1250" b="1">
                <a:solidFill>
                  <a:srgbClr val="1D4ED8"/>
                </a:solidFill>
                <a:latin typeface="Pretendard"/>
              </a:rPr>
              <a:t>결과</a:t>
            </a:r>
            <a:r>
              <a:rPr sz="1250" b="0">
                <a:solidFill>
                  <a:srgbClr val="BFC6D0"/>
                </a:solidFill>
                <a:latin typeface="Pretendard"/>
              </a:rPr>
              <a:t>    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7729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100" b="1">
                <a:solidFill>
                  <a:srgbClr val="111827"/>
                </a:solidFill>
                <a:latin typeface="Pretendard"/>
              </a:rPr>
              <a:t>Transformer </a:t>
            </a:r>
            <a:r>
              <a:rPr sz="2100" b="1">
                <a:solidFill>
                  <a:srgbClr val="1D4ED8"/>
                </a:solidFill>
                <a:latin typeface="Pretendard"/>
              </a:rPr>
              <a:t>0.910</a:t>
            </a:r>
            <a:r>
              <a:rPr sz="2100" b="1">
                <a:solidFill>
                  <a:srgbClr val="111827"/>
                </a:solidFill>
                <a:latin typeface="Pretendard"/>
              </a:rPr>
              <a:t> vs LSTM </a:t>
            </a:r>
            <a:r>
              <a:rPr sz="2100" b="1">
                <a:solidFill>
                  <a:srgbClr val="6B7280"/>
                </a:solidFill>
                <a:latin typeface="Pretendard"/>
              </a:rPr>
              <a:t>0.833</a:t>
            </a:r>
            <a:r>
              <a:rPr sz="2100" b="1">
                <a:solidFill>
                  <a:srgbClr val="111827"/>
                </a:solidFill>
                <a:latin typeface="Pretendard"/>
              </a:rPr>
              <a:t>, 격차의 원인은 overfitting</a:t>
            </a:r>
          </a:p>
        </p:txBody>
      </p:sp>
      <p:pic>
        <p:nvPicPr>
          <p:cNvPr id="4" name="Picture 3" descr="fig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91" y="1371600"/>
            <a:ext cx="10297711" cy="3886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440680"/>
            <a:ext cx="11277295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1">
                <a:solidFill>
                  <a:srgbClr val="1D4ED8"/>
                </a:solidFill>
                <a:latin typeface="Pretendard"/>
              </a:rPr>
              <a:t>Transformer</a:t>
            </a:r>
            <a:r>
              <a:rPr sz="1400" b="0">
                <a:solidFill>
                  <a:srgbClr val="374151"/>
                </a:solidFill>
                <a:latin typeface="Pretendard"/>
              </a:rPr>
              <a:t>  test accuracy </a:t>
            </a:r>
            <a:r>
              <a:rPr sz="1400" b="1">
                <a:solidFill>
                  <a:srgbClr val="1D4ED8"/>
                </a:solidFill>
                <a:latin typeface="Pretendard"/>
              </a:rPr>
              <a:t>0.910</a:t>
            </a:r>
            <a:r>
              <a:rPr sz="1400" b="0">
                <a:solidFill>
                  <a:srgbClr val="374151"/>
                </a:solidFill>
                <a:latin typeface="Pretendard"/>
              </a:rPr>
              <a:t> · macro F1 0.909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1">
                <a:solidFill>
                  <a:srgbClr val="6B7280"/>
                </a:solidFill>
                <a:latin typeface="Pretendard"/>
              </a:rPr>
              <a:t>LSTM</a:t>
            </a:r>
            <a:r>
              <a:rPr sz="1400" b="0">
                <a:solidFill>
                  <a:srgbClr val="374151"/>
                </a:solidFill>
                <a:latin typeface="Pretendard"/>
              </a:rPr>
              <a:t>  0.833 · macro F1 0.835, </a:t>
            </a:r>
            <a:r>
              <a:rPr sz="1400" b="1">
                <a:solidFill>
                  <a:srgbClr val="C0392B"/>
                </a:solidFill>
                <a:latin typeface="Pretendard"/>
              </a:rPr>
              <a:t>val loss 폭증</a:t>
            </a:r>
            <a:r>
              <a:rPr sz="1400" b="0">
                <a:solidFill>
                  <a:srgbClr val="374151"/>
                </a:solidFill>
                <a:latin typeface="Pretendard"/>
              </a:rPr>
              <a:t>으로 best epoch 2 저장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AAB2BD"/>
                </a:solidFill>
                <a:latin typeface="Pretendard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0">
                <a:solidFill>
                  <a:srgbClr val="BFC6D0"/>
                </a:solidFill>
                <a:latin typeface="Pretendard"/>
              </a:rPr>
              <a:t>배경     방법     </a:t>
            </a:r>
            <a:r>
              <a:rPr sz="1250" b="1">
                <a:solidFill>
                  <a:srgbClr val="1D4ED8"/>
                </a:solidFill>
                <a:latin typeface="Pretendard"/>
              </a:rPr>
              <a:t>결과</a:t>
            </a:r>
            <a:r>
              <a:rPr sz="1250" b="0">
                <a:solidFill>
                  <a:srgbClr val="BFC6D0"/>
                </a:solidFill>
                <a:latin typeface="Pretendard"/>
              </a:rPr>
              <a:t>    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7729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100" b="1">
                <a:solidFill>
                  <a:srgbClr val="111827"/>
                </a:solidFill>
                <a:latin typeface="Pretendard"/>
              </a:rPr>
              <a:t>두 모델 공통 </a:t>
            </a:r>
            <a:r>
              <a:rPr sz="2100" b="1">
                <a:solidFill>
                  <a:srgbClr val="1D4ED8"/>
                </a:solidFill>
                <a:latin typeface="Pretendard"/>
              </a:rPr>
              <a:t>Business ↔ Sci/Tech 혼동</a:t>
            </a:r>
          </a:p>
        </p:txBody>
      </p:sp>
      <p:pic>
        <p:nvPicPr>
          <p:cNvPr id="4" name="Picture 3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336" y="1371600"/>
            <a:ext cx="7805021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257800"/>
            <a:ext cx="11277295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1">
                <a:solidFill>
                  <a:srgbClr val="111827"/>
                </a:solidFill>
                <a:latin typeface="Pretendard"/>
              </a:rPr>
              <a:t>공통 오답 428건</a:t>
            </a:r>
            <a:r>
              <a:rPr sz="1400" b="0">
                <a:solidFill>
                  <a:srgbClr val="374151"/>
                </a:solidFill>
                <a:latin typeface="Pretendard"/>
              </a:rPr>
              <a:t>  61%가 Business/Sci-Tech 경계 (의미 중첩에 따른 모호성)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1">
                <a:solidFill>
                  <a:srgbClr val="111827"/>
                </a:solidFill>
                <a:latin typeface="Pretendard"/>
              </a:rPr>
              <a:t>LSTM 단독 841건</a:t>
            </a:r>
            <a:r>
              <a:rPr sz="1400" b="0">
                <a:solidFill>
                  <a:srgbClr val="374151"/>
                </a:solidFill>
                <a:latin typeface="Pretendard"/>
              </a:rPr>
              <a:t>  전 class에 분산, Transformer 단독(259건)의 </a:t>
            </a:r>
            <a:r>
              <a:rPr sz="1400" b="1">
                <a:solidFill>
                  <a:srgbClr val="111827"/>
                </a:solidFill>
                <a:latin typeface="Pretendard"/>
              </a:rPr>
              <a:t>3.2배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AAB2BD"/>
                </a:solidFill>
                <a:latin typeface="Pretendard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0">
                <a:solidFill>
                  <a:srgbClr val="BFC6D0"/>
                </a:solidFill>
                <a:latin typeface="Pretendard"/>
              </a:rPr>
              <a:t>배경     방법     </a:t>
            </a:r>
            <a:r>
              <a:rPr sz="1250" b="1">
                <a:solidFill>
                  <a:srgbClr val="1D4ED8"/>
                </a:solidFill>
                <a:latin typeface="Pretendard"/>
              </a:rPr>
              <a:t>결과</a:t>
            </a:r>
            <a:r>
              <a:rPr sz="1250" b="0">
                <a:solidFill>
                  <a:srgbClr val="BFC6D0"/>
                </a:solidFill>
                <a:latin typeface="Pretendard"/>
              </a:rPr>
              <a:t>    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7729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100" b="1">
                <a:solidFill>
                  <a:srgbClr val="111827"/>
                </a:solidFill>
                <a:latin typeface="Pretendard"/>
              </a:rPr>
              <a:t>LSTM은 </a:t>
            </a:r>
            <a:r>
              <a:rPr sz="2100" b="1">
                <a:solidFill>
                  <a:srgbClr val="6B7280"/>
                </a:solidFill>
                <a:latin typeface="Pretendard"/>
              </a:rPr>
              <a:t>25%에서 saturation</a:t>
            </a:r>
            <a:r>
              <a:rPr sz="2100" b="1">
                <a:solidFill>
                  <a:srgbClr val="111827"/>
                </a:solidFill>
                <a:latin typeface="Pretendard"/>
              </a:rPr>
              <a:t>, Transformer는 </a:t>
            </a:r>
            <a:r>
              <a:rPr sz="2100" b="1">
                <a:solidFill>
                  <a:srgbClr val="1D4ED8"/>
                </a:solidFill>
                <a:latin typeface="Pretendard"/>
              </a:rPr>
              <a:t>계속 향상</a:t>
            </a:r>
          </a:p>
        </p:txBody>
      </p:sp>
      <p:pic>
        <p:nvPicPr>
          <p:cNvPr id="4" name="Picture 3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42888"/>
            <a:ext cx="6492240" cy="38123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0" y="1600200"/>
            <a:ext cx="4510735" cy="330789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50" b="1" dirty="0">
                <a:solidFill>
                  <a:srgbClr val="1D4ED8"/>
                </a:solidFill>
                <a:latin typeface="Pretendard"/>
              </a:rPr>
              <a:t>Transformer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1" dirty="0" err="1">
                <a:solidFill>
                  <a:srgbClr val="1D4ED8"/>
                </a:solidFill>
                <a:latin typeface="Pretendard"/>
              </a:rPr>
              <a:t>데이터에</a:t>
            </a:r>
            <a:r>
              <a:rPr sz="1400" b="1" dirty="0">
                <a:solidFill>
                  <a:srgbClr val="1D4ED8"/>
                </a:solidFill>
                <a:latin typeface="Pretendard"/>
              </a:rPr>
              <a:t> </a:t>
            </a:r>
            <a:r>
              <a:rPr sz="1400" b="1" dirty="0" err="1">
                <a:solidFill>
                  <a:srgbClr val="1D4ED8"/>
                </a:solidFill>
                <a:latin typeface="Pretendard"/>
              </a:rPr>
              <a:t>따라</a:t>
            </a:r>
            <a:r>
              <a:rPr sz="1400" b="1" dirty="0">
                <a:solidFill>
                  <a:srgbClr val="1D4ED8"/>
                </a:solidFill>
                <a:latin typeface="Pretendard"/>
              </a:rPr>
              <a:t> </a:t>
            </a:r>
            <a:r>
              <a:rPr sz="1400" b="1" dirty="0" err="1">
                <a:solidFill>
                  <a:srgbClr val="1D4ED8"/>
                </a:solidFill>
                <a:latin typeface="Pretendard"/>
              </a:rPr>
              <a:t>단조</a:t>
            </a:r>
            <a:r>
              <a:rPr sz="1400" b="1" dirty="0">
                <a:solidFill>
                  <a:srgbClr val="1D4ED8"/>
                </a:solidFill>
                <a:latin typeface="Pretendard"/>
              </a:rPr>
              <a:t> </a:t>
            </a:r>
            <a:r>
              <a:rPr sz="1400" b="1" dirty="0" err="1">
                <a:solidFill>
                  <a:srgbClr val="1D4ED8"/>
                </a:solidFill>
                <a:latin typeface="Pretendard"/>
              </a:rPr>
              <a:t>증가</a:t>
            </a:r>
            <a:r>
              <a:rPr sz="1400" b="1" dirty="0">
                <a:solidFill>
                  <a:srgbClr val="1D4ED8"/>
                </a:solidFill>
                <a:latin typeface="Pretendard"/>
              </a:rPr>
              <a:t> (scaling)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0" dirty="0" err="1">
                <a:solidFill>
                  <a:srgbClr val="374151"/>
                </a:solidFill>
                <a:latin typeface="Pretendard"/>
              </a:rPr>
              <a:t>더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줄수록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더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좋아짐</a:t>
            </a:r>
            <a:endParaRPr sz="1400" b="0" dirty="0">
              <a:solidFill>
                <a:srgbClr val="374151"/>
              </a:solidFill>
              <a:latin typeface="Pretendard"/>
            </a:endParaRPr>
          </a:p>
          <a:p>
            <a:pPr>
              <a:spcBef>
                <a:spcPts val="1600"/>
              </a:spcBef>
              <a:spcAft>
                <a:spcPts val="700"/>
              </a:spcAft>
            </a:pPr>
            <a:r>
              <a:rPr sz="1550" b="1" dirty="0">
                <a:solidFill>
                  <a:srgbClr val="1D4ED8"/>
                </a:solidFill>
                <a:latin typeface="Pretendard"/>
              </a:rPr>
              <a:t>LSTM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1" dirty="0">
                <a:solidFill>
                  <a:srgbClr val="6B7280"/>
                </a:solidFill>
                <a:latin typeface="Pretendard"/>
              </a:rPr>
              <a:t>25%에서 </a:t>
            </a:r>
            <a:r>
              <a:rPr sz="1400" b="1" dirty="0" err="1">
                <a:solidFill>
                  <a:srgbClr val="6B7280"/>
                </a:solidFill>
                <a:latin typeface="Pretendard"/>
              </a:rPr>
              <a:t>최고치</a:t>
            </a:r>
            <a:r>
              <a:rPr sz="1400" b="1" dirty="0">
                <a:solidFill>
                  <a:srgbClr val="6B7280"/>
                </a:solidFill>
                <a:latin typeface="Pretendard"/>
              </a:rPr>
              <a:t> </a:t>
            </a:r>
            <a:r>
              <a:rPr sz="1400" b="1" dirty="0" err="1">
                <a:solidFill>
                  <a:srgbClr val="6B7280"/>
                </a:solidFill>
                <a:latin typeface="Pretendard"/>
              </a:rPr>
              <a:t>후</a:t>
            </a:r>
            <a:r>
              <a:rPr sz="1400" b="1" dirty="0">
                <a:solidFill>
                  <a:srgbClr val="6B7280"/>
                </a:solidFill>
                <a:latin typeface="Pretendard"/>
              </a:rPr>
              <a:t> saturation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0" dirty="0" err="1">
                <a:solidFill>
                  <a:srgbClr val="374151"/>
                </a:solidFill>
                <a:latin typeface="Pretendard"/>
              </a:rPr>
              <a:t>overfitting으로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추가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데이터를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활용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못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함</a:t>
            </a:r>
            <a:endParaRPr sz="1400" b="0" dirty="0">
              <a:solidFill>
                <a:srgbClr val="374151"/>
              </a:solidFill>
              <a:latin typeface="Pretendard"/>
            </a:endParaRPr>
          </a:p>
          <a:p>
            <a:pPr>
              <a:spcBef>
                <a:spcPts val="1600"/>
              </a:spcBef>
              <a:spcAft>
                <a:spcPts val="700"/>
              </a:spcAft>
            </a:pPr>
            <a:r>
              <a:rPr sz="1550" b="1" dirty="0" err="1">
                <a:solidFill>
                  <a:srgbClr val="1D4ED8"/>
                </a:solidFill>
                <a:latin typeface="Pretendard"/>
              </a:rPr>
              <a:t>가설</a:t>
            </a:r>
            <a:r>
              <a:rPr sz="1550" b="1" dirty="0">
                <a:solidFill>
                  <a:srgbClr val="1D4ED8"/>
                </a:solidFill>
                <a:latin typeface="Pretendard"/>
              </a:rPr>
              <a:t> </a:t>
            </a:r>
            <a:r>
              <a:rPr sz="1550" b="1" dirty="0" err="1">
                <a:solidFill>
                  <a:srgbClr val="1D4ED8"/>
                </a:solidFill>
                <a:latin typeface="Pretendard"/>
              </a:rPr>
              <a:t>기각</a:t>
            </a:r>
            <a:endParaRPr sz="1550" b="1" dirty="0">
              <a:solidFill>
                <a:srgbClr val="1D4ED8"/>
              </a:solidFill>
              <a:latin typeface="Pretendard"/>
            </a:endParaRP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0" dirty="0">
                <a:solidFill>
                  <a:srgbClr val="374151"/>
                </a:solidFill>
                <a:latin typeface="Pretendard"/>
              </a:rPr>
              <a:t>data-hungry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가설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기각</a:t>
            </a:r>
            <a:endParaRPr sz="1400" b="0" dirty="0">
              <a:solidFill>
                <a:srgbClr val="374151"/>
              </a:solidFill>
              <a:latin typeface="Pretendard"/>
            </a:endParaRP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1" dirty="0" err="1">
                <a:solidFill>
                  <a:srgbClr val="374151"/>
                </a:solidFill>
                <a:latin typeface="Pretendard"/>
              </a:rPr>
              <a:t>전</a:t>
            </a:r>
            <a:r>
              <a:rPr sz="1400" b="1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400" b="1" dirty="0" err="1">
                <a:solidFill>
                  <a:srgbClr val="374151"/>
                </a:solidFill>
                <a:latin typeface="Pretendard"/>
              </a:rPr>
              <a:t>구간에서</a:t>
            </a:r>
            <a:r>
              <a:rPr sz="1400" b="1" dirty="0">
                <a:solidFill>
                  <a:srgbClr val="374151"/>
                </a:solidFill>
                <a:latin typeface="Pretendard"/>
              </a:rPr>
              <a:t> Transformer </a:t>
            </a:r>
            <a:r>
              <a:rPr sz="1400" b="1" dirty="0" err="1">
                <a:solidFill>
                  <a:srgbClr val="374151"/>
                </a:solidFill>
                <a:latin typeface="Pretendard"/>
              </a:rPr>
              <a:t>우위</a:t>
            </a:r>
            <a:endParaRPr sz="1400" b="1" dirty="0">
              <a:solidFill>
                <a:srgbClr val="374151"/>
              </a:solidFill>
              <a:latin typeface="Pretendard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AAB2BD"/>
                </a:solidFill>
                <a:latin typeface="Pretendard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0">
                <a:solidFill>
                  <a:srgbClr val="BFC6D0"/>
                </a:solidFill>
                <a:latin typeface="Pretendard"/>
              </a:rPr>
              <a:t>배경     방법     </a:t>
            </a:r>
            <a:r>
              <a:rPr sz="1250" b="1">
                <a:solidFill>
                  <a:srgbClr val="1D4ED8"/>
                </a:solidFill>
                <a:latin typeface="Pretendard"/>
              </a:rPr>
              <a:t>결과</a:t>
            </a:r>
            <a:r>
              <a:rPr sz="1250" b="0">
                <a:solidFill>
                  <a:srgbClr val="BFC6D0"/>
                </a:solidFill>
                <a:latin typeface="Pretendard"/>
              </a:rPr>
              <a:t>     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7729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100" b="1">
                <a:solidFill>
                  <a:srgbClr val="111827"/>
                </a:solidFill>
                <a:latin typeface="Pretendard"/>
              </a:rPr>
              <a:t>bag-of-words 과제, 격차는 </a:t>
            </a:r>
            <a:r>
              <a:rPr sz="2100" b="1">
                <a:solidFill>
                  <a:srgbClr val="1D4ED8"/>
                </a:solidFill>
                <a:latin typeface="Pretendard"/>
              </a:rPr>
              <a:t>순서가 아닌 robustness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11277295" cy="6631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lang="en-US" sz="1250" dirty="0">
                <a:solidFill>
                  <a:srgbClr val="6B7280"/>
                </a:solidFill>
                <a:latin typeface="Pretendard"/>
              </a:rPr>
              <a:t>I</a:t>
            </a:r>
            <a:r>
              <a:rPr lang="en-US" sz="1250" b="0" dirty="0">
                <a:solidFill>
                  <a:srgbClr val="6B7280"/>
                </a:solidFill>
                <a:latin typeface="Pretendard"/>
              </a:rPr>
              <a:t>nput:</a:t>
            </a:r>
            <a:r>
              <a:rPr sz="1250" b="0" dirty="0">
                <a:solidFill>
                  <a:srgbClr val="6B7280"/>
                </a:solidFill>
                <a:latin typeface="Pretendard"/>
              </a:rPr>
              <a:t> (label: </a:t>
            </a:r>
            <a:r>
              <a:rPr sz="1250" b="1" dirty="0">
                <a:solidFill>
                  <a:srgbClr val="1D4ED8"/>
                </a:solidFill>
                <a:latin typeface="Pretendard"/>
              </a:rPr>
              <a:t>Sports</a:t>
            </a:r>
            <a:r>
              <a:rPr sz="1250" b="0" dirty="0">
                <a:solidFill>
                  <a:srgbClr val="6B7280"/>
                </a:solidFill>
                <a:latin typeface="Pretendard"/>
              </a:rPr>
              <a:t>)  </a:t>
            </a:r>
            <a:br>
              <a:rPr lang="en-US" sz="1250" b="0" dirty="0">
                <a:solidFill>
                  <a:srgbClr val="6B7280"/>
                </a:solidFill>
                <a:latin typeface="Pretendard"/>
              </a:rPr>
            </a:br>
            <a:r>
              <a:rPr sz="1250" b="0" dirty="0">
                <a:solidFill>
                  <a:srgbClr val="6B7280"/>
                </a:solidFill>
                <a:latin typeface="Pretendard"/>
              </a:rPr>
              <a:t> </a:t>
            </a:r>
            <a:r>
              <a:rPr sz="1250" b="0" dirty="0">
                <a:solidFill>
                  <a:srgbClr val="374151"/>
                </a:solidFill>
                <a:latin typeface="Pretendard"/>
              </a:rPr>
              <a:t>"Giddy Phelps Touches Gold for First Time</a:t>
            </a:r>
            <a:br>
              <a:rPr lang="en-US" sz="1250" b="0" dirty="0">
                <a:solidFill>
                  <a:srgbClr val="374151"/>
                </a:solidFill>
                <a:latin typeface="Pretendard"/>
              </a:rPr>
            </a:br>
            <a:r>
              <a:rPr sz="1250" b="0" dirty="0">
                <a:solidFill>
                  <a:srgbClr val="374151"/>
                </a:solidFill>
                <a:latin typeface="Pretendard"/>
              </a:rPr>
              <a:t>Michael Phelps won the gold medal in the 400 individual medley and set a world record in a time of 4 minutes 8.26 seconds."</a:t>
            </a:r>
          </a:p>
        </p:txBody>
      </p:sp>
      <p:pic>
        <p:nvPicPr>
          <p:cNvPr id="5" name="Picture 4" descr="fig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959" y="2043874"/>
            <a:ext cx="9227776" cy="32961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622393"/>
            <a:ext cx="11277295" cy="1417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1" dirty="0">
                <a:solidFill>
                  <a:srgbClr val="111827"/>
                </a:solidFill>
                <a:latin typeface="Pretendard"/>
              </a:rPr>
              <a:t>PE on/off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 with-PE 0.910 vs no-PE 0.911 (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차이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-0.001),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순서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정보가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거의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불필요</a:t>
            </a:r>
            <a:endParaRPr sz="1400" b="0" dirty="0">
              <a:solidFill>
                <a:srgbClr val="374151"/>
              </a:solidFill>
              <a:latin typeface="Pretendard"/>
            </a:endParaRP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1" dirty="0">
                <a:solidFill>
                  <a:srgbClr val="111827"/>
                </a:solidFill>
                <a:latin typeface="Pretendard"/>
              </a:rPr>
              <a:t>robustness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LSTM은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비주제어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'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giddy'에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의존해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오분류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,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Transformer는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주제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토큰에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근거를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분산해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정확히</a:t>
            </a:r>
            <a:r>
              <a:rPr sz="1400" b="0" dirty="0">
                <a:solidFill>
                  <a:srgbClr val="374151"/>
                </a:solidFill>
                <a:latin typeface="Pretendard"/>
              </a:rPr>
              <a:t> </a:t>
            </a:r>
            <a:r>
              <a:rPr sz="1400" b="0" dirty="0" err="1">
                <a:solidFill>
                  <a:srgbClr val="374151"/>
                </a:solidFill>
                <a:latin typeface="Pretendard"/>
              </a:rPr>
              <a:t>분류</a:t>
            </a:r>
            <a:endParaRPr sz="1400" b="0" dirty="0">
              <a:solidFill>
                <a:srgbClr val="374151"/>
              </a:solidFill>
              <a:latin typeface="Pretendar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AAB2BD"/>
                </a:solidFill>
                <a:latin typeface="Pretendard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9184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sz="1250" b="0">
                <a:solidFill>
                  <a:srgbClr val="BFC6D0"/>
                </a:solidFill>
                <a:latin typeface="Pretendard"/>
              </a:rPr>
              <a:t>배경     방법     결과     </a:t>
            </a:r>
            <a:r>
              <a:rPr sz="1250" b="1">
                <a:solidFill>
                  <a:srgbClr val="1D4ED8"/>
                </a:solidFill>
                <a:latin typeface="Pretendard"/>
              </a:rPr>
              <a:t>결론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76656"/>
            <a:ext cx="11277295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0000"/>
              </a:lnSpc>
            </a:pPr>
            <a:r>
              <a:rPr sz="2100" b="1">
                <a:solidFill>
                  <a:srgbClr val="111827"/>
                </a:solidFill>
                <a:latin typeface="Pretendard"/>
              </a:rPr>
              <a:t>동일 조건에서 </a:t>
            </a:r>
            <a:r>
              <a:rPr sz="2100" b="1">
                <a:solidFill>
                  <a:srgbClr val="1D4ED8"/>
                </a:solidFill>
                <a:latin typeface="Pretendard"/>
              </a:rPr>
              <a:t>Transformer 우수</a:t>
            </a:r>
            <a:r>
              <a:rPr sz="2100" b="1">
                <a:solidFill>
                  <a:srgbClr val="111827"/>
                </a:solidFill>
                <a:latin typeface="Pretendard"/>
              </a:rPr>
              <a:t>, 원인은 generalization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754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700"/>
              </a:spcAft>
            </a:pPr>
            <a:r>
              <a:rPr sz="1550" b="1">
                <a:solidFill>
                  <a:srgbClr val="1D4ED8"/>
                </a:solidFill>
                <a:latin typeface="Pretendard"/>
              </a:rPr>
              <a:t>성능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0">
                <a:solidFill>
                  <a:srgbClr val="374151"/>
                </a:solidFill>
                <a:latin typeface="Pretendard"/>
              </a:rPr>
              <a:t>동일 조건에서 test accuracy </a:t>
            </a:r>
            <a:r>
              <a:rPr sz="1400" b="1">
                <a:solidFill>
                  <a:srgbClr val="111827"/>
                </a:solidFill>
                <a:latin typeface="Pretendard"/>
              </a:rPr>
              <a:t>0.910 vs 0.833</a:t>
            </a:r>
            <a:r>
              <a:rPr sz="1400" b="0">
                <a:solidFill>
                  <a:srgbClr val="374151"/>
                </a:solidFill>
                <a:latin typeface="Pretendard"/>
              </a:rPr>
              <a:t> (encoder 구조만 바꾼 통제된 비교)</a:t>
            </a:r>
          </a:p>
          <a:p>
            <a:pPr>
              <a:spcBef>
                <a:spcPts val="1200"/>
              </a:spcBef>
              <a:spcAft>
                <a:spcPts val="700"/>
              </a:spcAft>
            </a:pPr>
            <a:r>
              <a:rPr sz="1550" b="1">
                <a:solidFill>
                  <a:srgbClr val="1D4ED8"/>
                </a:solidFill>
                <a:latin typeface="Pretendard"/>
              </a:rPr>
              <a:t>원인 (메커니즘 차이)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1">
                <a:solidFill>
                  <a:srgbClr val="1D4ED8"/>
                </a:solidFill>
                <a:latin typeface="Pretendard"/>
              </a:rPr>
              <a:t>Transformer</a:t>
            </a:r>
            <a:r>
              <a:rPr sz="1400" b="0">
                <a:solidFill>
                  <a:srgbClr val="374151"/>
                </a:solidFill>
                <a:latin typeface="Pretendard"/>
              </a:rPr>
              <a:t>: self-attention이 근거를 여러 토큰에 분산 → robust, 안정적 scaling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1">
                <a:solidFill>
                  <a:srgbClr val="6B7280"/>
                </a:solidFill>
                <a:latin typeface="Pretendard"/>
              </a:rPr>
              <a:t>LSTM</a:t>
            </a:r>
            <a:r>
              <a:rPr sz="1400" b="0">
                <a:solidFill>
                  <a:srgbClr val="374151"/>
                </a:solidFill>
                <a:latin typeface="Pretendard"/>
              </a:rPr>
              <a:t>: recurrence가 특정 토큰에 의존 → overfitting, 25%에서 saturation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0">
                <a:solidFill>
                  <a:srgbClr val="374151"/>
                </a:solidFill>
                <a:latin typeface="Pretendard"/>
              </a:rPr>
              <a:t>두 메커니즘의 generalization 차이가 성능 격차로 이어진다</a:t>
            </a:r>
          </a:p>
          <a:p>
            <a:pPr>
              <a:spcBef>
                <a:spcPts val="1200"/>
              </a:spcBef>
              <a:spcAft>
                <a:spcPts val="700"/>
              </a:spcAft>
            </a:pPr>
            <a:r>
              <a:rPr sz="1550" b="1">
                <a:solidFill>
                  <a:srgbClr val="1D4ED8"/>
                </a:solidFill>
                <a:latin typeface="Pretendard"/>
              </a:rPr>
              <a:t>과제 성격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1">
                <a:solidFill>
                  <a:srgbClr val="111827"/>
                </a:solidFill>
                <a:latin typeface="Pretendard"/>
              </a:rPr>
              <a:t>bag-of-words</a:t>
            </a:r>
            <a:r>
              <a:rPr sz="1400" b="0">
                <a:solidFill>
                  <a:srgbClr val="374151"/>
                </a:solidFill>
                <a:latin typeface="Pretendard"/>
              </a:rPr>
              <a:t>: positional encoding 제거해도 정확도 동일, 격차는 순서가 아닌 robustness</a:t>
            </a:r>
          </a:p>
          <a:p>
            <a:pPr>
              <a:spcBef>
                <a:spcPts val="1200"/>
              </a:spcBef>
              <a:spcAft>
                <a:spcPts val="700"/>
              </a:spcAft>
            </a:pPr>
            <a:r>
              <a:rPr sz="1550" b="1">
                <a:solidFill>
                  <a:srgbClr val="1D4ED8"/>
                </a:solidFill>
                <a:latin typeface="Pretendard"/>
              </a:rPr>
              <a:t>한계 · 향후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0">
                <a:solidFill>
                  <a:srgbClr val="374151"/>
                </a:solidFill>
                <a:latin typeface="Pretendard"/>
              </a:rPr>
              <a:t>단일 seed → 다중 seed 재확인, LSTM regularization 강화</a:t>
            </a:r>
          </a:p>
          <a:p>
            <a:pPr marL="274320" indent="-274320">
              <a:lnSpc>
                <a:spcPct val="125000"/>
              </a:lnSpc>
              <a:spcAft>
                <a:spcPts val="500"/>
              </a:spcAft>
              <a:buFont typeface="Arial"/>
              <a:buChar char="•"/>
            </a:pPr>
            <a:r>
              <a:rPr sz="1400" b="0">
                <a:solidFill>
                  <a:srgbClr val="374151"/>
                </a:solidFill>
                <a:latin typeface="Pretendard"/>
              </a:rPr>
              <a:t>순서가 중요한 과제에서 positional encoding 재검증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510528"/>
            <a:ext cx="10058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50" b="0">
                <a:solidFill>
                  <a:srgbClr val="AAB2BD"/>
                </a:solidFill>
                <a:latin typeface="Pretendard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739</Words>
  <Application>Microsoft Macintosh PowerPoint</Application>
  <PresentationFormat>와이드스크린</PresentationFormat>
  <Paragraphs>99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5" baseType="lpstr">
      <vt:lpstr>Pretendard</vt:lpstr>
      <vt:lpstr>Pretendard SemiBold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jihun jang</cp:lastModifiedBy>
  <cp:revision>2</cp:revision>
  <dcterms:created xsi:type="dcterms:W3CDTF">2013-01-27T09:14:16Z</dcterms:created>
  <dcterms:modified xsi:type="dcterms:W3CDTF">2026-06-20T10:48:00Z</dcterms:modified>
  <cp:category/>
</cp:coreProperties>
</file>