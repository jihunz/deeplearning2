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17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1" sz="1400">
                <a:solidFill>
                  <a:srgbClr val="1D4ED8"/>
                </a:solidFill>
                <a:latin typeface="Pretendard"/>
              </a:rPr>
              <a:t>DEEP LEARNING · TERM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217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400">
                <a:solidFill>
                  <a:srgbClr val="6B7280"/>
                </a:solidFill>
                <a:latin typeface="Pretendard"/>
              </a:rPr>
              <a:t>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097280"/>
            <a:ext cx="105156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1" sz="5000">
                <a:solidFill>
                  <a:srgbClr val="111827"/>
                </a:solidFill>
                <a:latin typeface="Pretendard"/>
              </a:rPr>
              <a:t>LSTM </a:t>
            </a:r>
            <a:r>
              <a:rPr b="1" sz="5000">
                <a:solidFill>
                  <a:srgbClr val="1D4ED8"/>
                </a:solidFill>
                <a:latin typeface="Pretendard"/>
              </a:rPr>
              <a:t>vs</a:t>
            </a:r>
            <a:r>
              <a:rPr b="1" sz="5000">
                <a:solidFill>
                  <a:srgbClr val="111827"/>
                </a:solidFill>
                <a:latin typeface="Pretendard"/>
              </a:rPr>
              <a:t> 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1" sz="3100">
                <a:solidFill>
                  <a:srgbClr val="111827"/>
                </a:solidFill>
                <a:latin typeface="Pretendard"/>
              </a:rPr>
              <a:t>Encoder, 텍스트 분류에서의 통제된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0" sz="1900">
                <a:solidFill>
                  <a:srgbClr val="6B7280"/>
                </a:solidFill>
                <a:latin typeface="Pretendard"/>
              </a:rPr>
              <a:t>AG News 4-class 주제 분류, 두 시퀀스 인코더를 동일 조건에서 비교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4956048"/>
            <a:ext cx="105156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5248656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1" sz="1500">
                <a:solidFill>
                  <a:srgbClr val="1D4ED8"/>
                </a:solidFill>
                <a:latin typeface="Pretendard"/>
              </a:rPr>
              <a:t>발표자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5230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1" sz="1700">
                <a:solidFill>
                  <a:srgbClr val="111827"/>
                </a:solidFill>
                <a:latin typeface="Pretendard"/>
              </a:rPr>
              <a:t>장지훈</a:t>
            </a:r>
            <a:r>
              <a:rPr b="0" sz="1300">
                <a:solidFill>
                  <a:srgbClr val="6B7280"/>
                </a:solidFill>
                <a:latin typeface="Pretendard"/>
              </a:rPr>
              <a:t>   (ETRI School · 02521122)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3387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1" sz="1500">
                <a:solidFill>
                  <a:srgbClr val="1D4ED8"/>
                </a:solidFill>
                <a:latin typeface="Pretendard"/>
              </a:rPr>
              <a:t>소속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5815584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0" sz="1600">
                <a:solidFill>
                  <a:srgbClr val="374151"/>
                </a:solidFill>
                <a:latin typeface="Pretendard SemiBold"/>
              </a:rPr>
              <a:t>과학기술연합대학원대학교 ETRI 스쿨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1" sz="1250">
                <a:solidFill>
                  <a:srgbClr val="1D4ED8"/>
                </a:solidFill>
                <a:latin typeface="Pretendard"/>
              </a:rPr>
              <a:t>배경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방법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결과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b="1" sz="2100">
                <a:solidFill>
                  <a:srgbClr val="111827"/>
                </a:solidFill>
                <a:latin typeface="Pretendard"/>
              </a:rPr>
              <a:t>정확도 경쟁이 아니라, </a:t>
            </a:r>
            <a:r>
              <a:rPr b="1" sz="2100">
                <a:solidFill>
                  <a:srgbClr val="1D4ED8"/>
                </a:solidFill>
                <a:latin typeface="Pretendard"/>
              </a:rPr>
              <a:t>두 구조가 왜 다른지</a:t>
            </a:r>
            <a:r>
              <a:rPr b="1" sz="2100">
                <a:solidFill>
                  <a:srgbClr val="111827"/>
                </a:solidFill>
                <a:latin typeface="Pretendard"/>
              </a:rPr>
              <a:t>를 규명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과제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Pretendard"/>
              </a:rPr>
              <a:t>AG News 4-class 뉴스 주제 분류</a:t>
            </a:r>
            <a:r>
              <a:rPr b="0" sz="1500">
                <a:solidFill>
                  <a:srgbClr val="374151"/>
                </a:solidFill>
                <a:latin typeface="Pretendard"/>
              </a:rPr>
              <a:t> (World·Sports·Business·Sci-Tech)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LSTM과 Transformer Encoder를 모두 from scratch로 학습</a:t>
            </a:r>
          </a:p>
          <a:p>
            <a:pPr>
              <a:spcBef>
                <a:spcPts val="15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방법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Pretendard"/>
              </a:rPr>
              <a:t>데이터·전처리·어휘·시퀀스 길이·학습 예산</a:t>
            </a:r>
            <a:r>
              <a:rPr b="0" sz="1500">
                <a:solidFill>
                  <a:srgbClr val="374151"/>
                </a:solidFill>
                <a:latin typeface="Pretendard"/>
              </a:rPr>
              <a:t>을 동일하게 고정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encoder 구조만 유일한 변수로 둔다</a:t>
            </a:r>
          </a:p>
          <a:p>
            <a:pPr>
              <a:spcBef>
                <a:spcPts val="15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질문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성능·수렴·data efficiency·오분류 양상이 어떻게 다른가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그리고 그 차이의 원인은 무엇인가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50">
                <a:solidFill>
                  <a:srgbClr val="AAB2BD"/>
                </a:solidFill>
                <a:latin typeface="Pretendard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1" sz="1250">
                <a:solidFill>
                  <a:srgbClr val="1D4ED8"/>
                </a:solidFill>
                <a:latin typeface="Pretendard"/>
              </a:rPr>
              <a:t>배경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방법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결과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b="1" sz="2100">
                <a:solidFill>
                  <a:srgbClr val="111827"/>
                </a:solidFill>
                <a:latin typeface="Pretendard"/>
              </a:rPr>
              <a:t>balanced 4-class, 어휘는 </a:t>
            </a:r>
            <a:r>
              <a:rPr b="1" sz="2100">
                <a:solidFill>
                  <a:srgbClr val="1D4ED8"/>
                </a:solidFill>
                <a:latin typeface="Pretendard"/>
              </a:rPr>
              <a:t>train에서만 구축</a:t>
            </a:r>
            <a:r>
              <a:rPr b="1" sz="2100">
                <a:solidFill>
                  <a:srgbClr val="111827"/>
                </a:solidFill>
                <a:latin typeface="Pretendard"/>
              </a:rPr>
              <a:t> (leakage 방지)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분할 (seed 42)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Pretendard"/>
              </a:rPr>
              <a:t>Train 108,000 / Validation 12,000 / Test 7,600</a:t>
            </a:r>
          </a:p>
          <a:p>
            <a:pPr>
              <a:spcBef>
                <a:spcPts val="14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클래스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Pretendard"/>
              </a:rPr>
              <a:t>World · Sports · Business · Sci-Tech</a:t>
            </a:r>
            <a:r>
              <a:rPr b="0" sz="1500">
                <a:solidFill>
                  <a:srgbClr val="374151"/>
                </a:solidFill>
                <a:latin typeface="Pretendard"/>
              </a:rPr>
              <a:t> 4개, balanced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train 약 27,000 / test 1,900 each</a:t>
            </a:r>
          </a:p>
          <a:p>
            <a:pPr>
              <a:spcBef>
                <a:spcPts val="14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전처리 (두 모델 공통)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단어 단위 tokenization (소문자화)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vocabulary: </a:t>
            </a:r>
            <a:r>
              <a:rPr b="1" sz="1500">
                <a:solidFill>
                  <a:srgbClr val="111827"/>
                </a:solidFill>
                <a:latin typeface="Pretendard"/>
              </a:rPr>
              <a:t>train-only</a:t>
            </a:r>
            <a:r>
              <a:rPr b="0" sz="1500">
                <a:solidFill>
                  <a:srgbClr val="374151"/>
                </a:solidFill>
                <a:latin typeface="Pretendard"/>
              </a:rPr>
              <a:t>, 상한 20,000, min frequency 2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max length 128, padding 위치는 masking으로 무시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50">
                <a:solidFill>
                  <a:srgbClr val="AAB2BD"/>
                </a:solidFill>
                <a:latin typeface="Pretendard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0" sz="1250">
                <a:solidFill>
                  <a:srgbClr val="BFC6D0"/>
                </a:solidFill>
                <a:latin typeface="Pretendard"/>
              </a:rPr>
              <a:t>배경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1" sz="1250">
                <a:solidFill>
                  <a:srgbClr val="1D4ED8"/>
                </a:solidFill>
                <a:latin typeface="Pretendard"/>
              </a:rPr>
              <a:t>방법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결과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b="1" sz="2100">
                <a:solidFill>
                  <a:srgbClr val="111827"/>
                </a:solidFill>
                <a:latin typeface="Pretendard"/>
              </a:rPr>
              <a:t>공유 골격, </a:t>
            </a:r>
            <a:r>
              <a:rPr b="1" sz="2100">
                <a:solidFill>
                  <a:srgbClr val="1D4ED8"/>
                </a:solidFill>
                <a:latin typeface="Pretendard"/>
              </a:rPr>
              <a:t>encoder만 교체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공유 골격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Pretendard"/>
              </a:rPr>
              <a:t>Embedding(128) → Encoder → masked mean pooling → Linear(4)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encoder 한 조각만 교체, 나머지는 모두 동일</a:t>
            </a:r>
          </a:p>
          <a:p>
            <a:pPr>
              <a:spcBef>
                <a:spcPts val="15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encoder 비교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Pretendard"/>
              </a:rPr>
              <a:t>LSTM</a:t>
            </a:r>
            <a:r>
              <a:rPr b="0" sz="1500">
                <a:solidFill>
                  <a:srgbClr val="374151"/>
                </a:solidFill>
                <a:latin typeface="Pretendard"/>
              </a:rPr>
              <a:t>  bidirectional · 2 layers · hidden 128 / output 256 / params 3,220,484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Pretendard"/>
              </a:rPr>
              <a:t>Transformer</a:t>
            </a:r>
            <a:r>
              <a:rPr b="0" sz="1500">
                <a:solidFill>
                  <a:srgbClr val="374151"/>
                </a:solidFill>
                <a:latin typeface="Pretendard"/>
              </a:rPr>
              <a:t>  2 layers · 4 heads · FFN 256 · sinusoidal PE / dim 128 / params 2,825,476</a:t>
            </a:r>
          </a:p>
          <a:p>
            <a:pPr>
              <a:spcBef>
                <a:spcPts val="15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파라미터 규모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임베딩이 지배적이라 두 모델 파라미터는 </a:t>
            </a:r>
            <a:r>
              <a:rPr b="1" sz="1500">
                <a:solidFill>
                  <a:srgbClr val="111827"/>
                </a:solidFill>
                <a:latin typeface="Pretendard"/>
              </a:rPr>
              <a:t>약 14% 차</a:t>
            </a:r>
            <a:r>
              <a:rPr b="0" sz="1500">
                <a:solidFill>
                  <a:srgbClr val="374151"/>
                </a:solidFill>
                <a:latin typeface="Pretendard"/>
              </a:rPr>
              <a:t>로 비슷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50">
                <a:solidFill>
                  <a:srgbClr val="AAB2BD"/>
                </a:solidFill>
                <a:latin typeface="Pretendard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0" sz="1250">
                <a:solidFill>
                  <a:srgbClr val="BFC6D0"/>
                </a:solidFill>
                <a:latin typeface="Pretendard"/>
              </a:rPr>
              <a:t>배경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1" sz="1250">
                <a:solidFill>
                  <a:srgbClr val="1D4ED8"/>
                </a:solidFill>
                <a:latin typeface="Pretendard"/>
              </a:rPr>
              <a:t>방법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결과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b="1" sz="2100">
                <a:solidFill>
                  <a:srgbClr val="111827"/>
                </a:solidFill>
                <a:latin typeface="Pretendard"/>
              </a:rPr>
              <a:t>유일한 변수 = </a:t>
            </a:r>
            <a:r>
              <a:rPr b="1" sz="2100">
                <a:solidFill>
                  <a:srgbClr val="1D4ED8"/>
                </a:solidFill>
                <a:latin typeface="Pretendard"/>
              </a:rPr>
              <a:t>encoder 구조</a:t>
            </a:r>
            <a:r>
              <a:rPr b="1" sz="2100">
                <a:solidFill>
                  <a:srgbClr val="111827"/>
                </a:solidFill>
                <a:latin typeface="Pretendard"/>
              </a:rPr>
              <a:t> (나머지 전부 고정)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고정 (fair comparison)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split · tokenizer · vocabulary · max length · pooling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optimizer · learning rate · batch size · epoch · seed</a:t>
            </a:r>
          </a:p>
          <a:p>
            <a:pPr>
              <a:spcBef>
                <a:spcPts val="14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학습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Adam, learning rate 0.001, batch 64, 최대 8 epochs, dropout 0.1, seed 42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model selection은 </a:t>
            </a:r>
            <a:r>
              <a:rPr b="1" sz="1500">
                <a:solidFill>
                  <a:srgbClr val="111827"/>
                </a:solidFill>
                <a:latin typeface="Pretendard"/>
              </a:rPr>
              <a:t>validation</a:t>
            </a:r>
            <a:r>
              <a:rPr b="0" sz="1500">
                <a:solidFill>
                  <a:srgbClr val="374151"/>
                </a:solidFill>
                <a:latin typeface="Pretendard"/>
              </a:rPr>
              <a:t>, test는 1회</a:t>
            </a:r>
          </a:p>
          <a:p>
            <a:pPr>
              <a:spcBef>
                <a:spcPts val="14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Ablation · 지표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Pretendard"/>
              </a:rPr>
              <a:t>training set 5 / 25 / 50 / 100%</a:t>
            </a:r>
            <a:r>
              <a:rPr b="0" sz="1500">
                <a:solidFill>
                  <a:srgbClr val="374151"/>
                </a:solidFill>
                <a:latin typeface="Pretendard"/>
              </a:rPr>
              <a:t> (vocabulary 고정, stratified, val·test 전체)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accuracy · macro F1-score · loss curve ·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50">
                <a:solidFill>
                  <a:srgbClr val="AAB2BD"/>
                </a:solidFill>
                <a:latin typeface="Pretendard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0" sz="1250">
                <a:solidFill>
                  <a:srgbClr val="BFC6D0"/>
                </a:solidFill>
                <a:latin typeface="Pretendard"/>
              </a:rPr>
              <a:t>배경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방법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1" sz="1250">
                <a:solidFill>
                  <a:srgbClr val="1D4ED8"/>
                </a:solidFill>
                <a:latin typeface="Pretendard"/>
              </a:rPr>
              <a:t>결과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b="1" sz="2100">
                <a:solidFill>
                  <a:srgbClr val="111827"/>
                </a:solidFill>
                <a:latin typeface="Pretendard"/>
              </a:rPr>
              <a:t>Transformer </a:t>
            </a:r>
            <a:r>
              <a:rPr b="1" sz="2100">
                <a:solidFill>
                  <a:srgbClr val="1D4ED8"/>
                </a:solidFill>
                <a:latin typeface="Pretendard"/>
              </a:rPr>
              <a:t>0.910</a:t>
            </a:r>
            <a:r>
              <a:rPr b="1" sz="2100">
                <a:solidFill>
                  <a:srgbClr val="111827"/>
                </a:solidFill>
                <a:latin typeface="Pretendard"/>
              </a:rPr>
              <a:t> vs LSTM </a:t>
            </a:r>
            <a:r>
              <a:rPr b="1" sz="2100">
                <a:solidFill>
                  <a:srgbClr val="6B7280"/>
                </a:solidFill>
                <a:latin typeface="Pretendard"/>
              </a:rPr>
              <a:t>0.833</a:t>
            </a:r>
            <a:r>
              <a:rPr b="1" sz="2100">
                <a:solidFill>
                  <a:srgbClr val="111827"/>
                </a:solidFill>
                <a:latin typeface="Pretendard"/>
              </a:rPr>
              <a:t>, 격차의 원인은 overfitting</a:t>
            </a:r>
          </a:p>
        </p:txBody>
      </p:sp>
      <p:pic>
        <p:nvPicPr>
          <p:cNvPr id="4" name="Picture 3" descr="fi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91" y="1371600"/>
            <a:ext cx="10297711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40680"/>
            <a:ext cx="112772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400">
                <a:solidFill>
                  <a:srgbClr val="1D4ED8"/>
                </a:solidFill>
                <a:latin typeface="Pretendard"/>
              </a:rPr>
              <a:t>Transformer</a:t>
            </a:r>
            <a:r>
              <a:rPr b="0" sz="1400">
                <a:solidFill>
                  <a:srgbClr val="374151"/>
                </a:solidFill>
                <a:latin typeface="Pretendard"/>
              </a:rPr>
              <a:t>  test accuracy </a:t>
            </a:r>
            <a:r>
              <a:rPr b="1" sz="1400">
                <a:solidFill>
                  <a:srgbClr val="1D4ED8"/>
                </a:solidFill>
                <a:latin typeface="Pretendard"/>
              </a:rPr>
              <a:t>0.910</a:t>
            </a:r>
            <a:r>
              <a:rPr b="0" sz="1400">
                <a:solidFill>
                  <a:srgbClr val="374151"/>
                </a:solidFill>
                <a:latin typeface="Pretendard"/>
              </a:rPr>
              <a:t> · macro F1 0.909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400">
                <a:solidFill>
                  <a:srgbClr val="6B7280"/>
                </a:solidFill>
                <a:latin typeface="Pretendard"/>
              </a:rPr>
              <a:t>LSTM</a:t>
            </a:r>
            <a:r>
              <a:rPr b="0" sz="1400">
                <a:solidFill>
                  <a:srgbClr val="374151"/>
                </a:solidFill>
                <a:latin typeface="Pretendard"/>
              </a:rPr>
              <a:t>  0.833 · macro F1 0.835, </a:t>
            </a:r>
            <a:r>
              <a:rPr b="1" sz="1400">
                <a:solidFill>
                  <a:srgbClr val="C0392B"/>
                </a:solidFill>
                <a:latin typeface="Pretendard"/>
              </a:rPr>
              <a:t>val loss 폭증</a:t>
            </a:r>
            <a:r>
              <a:rPr b="0" sz="1400">
                <a:solidFill>
                  <a:srgbClr val="374151"/>
                </a:solidFill>
                <a:latin typeface="Pretendard"/>
              </a:rPr>
              <a:t>으로 best epoch 2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50">
                <a:solidFill>
                  <a:srgbClr val="AAB2BD"/>
                </a:solidFill>
                <a:latin typeface="Pretendard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0" sz="1250">
                <a:solidFill>
                  <a:srgbClr val="BFC6D0"/>
                </a:solidFill>
                <a:latin typeface="Pretendard"/>
              </a:rPr>
              <a:t>배경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방법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1" sz="1250">
                <a:solidFill>
                  <a:srgbClr val="1D4ED8"/>
                </a:solidFill>
                <a:latin typeface="Pretendard"/>
              </a:rPr>
              <a:t>결과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b="1" sz="2100">
                <a:solidFill>
                  <a:srgbClr val="111827"/>
                </a:solidFill>
                <a:latin typeface="Pretendard"/>
              </a:rPr>
              <a:t>두 모델 공통 </a:t>
            </a:r>
            <a:r>
              <a:rPr b="1" sz="2100">
                <a:solidFill>
                  <a:srgbClr val="1D4ED8"/>
                </a:solidFill>
                <a:latin typeface="Pretendard"/>
              </a:rPr>
              <a:t>Business ↔ Sci/Tech 혼동</a:t>
            </a:r>
          </a:p>
        </p:txBody>
      </p:sp>
      <p:pic>
        <p:nvPicPr>
          <p:cNvPr id="4" name="Picture 3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336" y="1371600"/>
            <a:ext cx="7805021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2578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400">
                <a:solidFill>
                  <a:srgbClr val="111827"/>
                </a:solidFill>
                <a:latin typeface="Pretendard"/>
              </a:rPr>
              <a:t>공통 오답 428건</a:t>
            </a:r>
            <a:r>
              <a:rPr b="0" sz="1400">
                <a:solidFill>
                  <a:srgbClr val="374151"/>
                </a:solidFill>
                <a:latin typeface="Pretendard"/>
              </a:rPr>
              <a:t>  61%가 Business/Sci-Tech 경계 (의미 중첩에 따른 모호성)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400">
                <a:solidFill>
                  <a:srgbClr val="111827"/>
                </a:solidFill>
                <a:latin typeface="Pretendard"/>
              </a:rPr>
              <a:t>LSTM 단독 841건</a:t>
            </a:r>
            <a:r>
              <a:rPr b="0" sz="1400">
                <a:solidFill>
                  <a:srgbClr val="374151"/>
                </a:solidFill>
                <a:latin typeface="Pretendard"/>
              </a:rPr>
              <a:t>  전 class에 분산, Transformer 단독(259건)의 </a:t>
            </a:r>
            <a:r>
              <a:rPr b="1" sz="1400">
                <a:solidFill>
                  <a:srgbClr val="111827"/>
                </a:solidFill>
                <a:latin typeface="Pretendard"/>
              </a:rPr>
              <a:t>3.2배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50">
                <a:solidFill>
                  <a:srgbClr val="AAB2BD"/>
                </a:solidFill>
                <a:latin typeface="Pretendard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0" sz="1250">
                <a:solidFill>
                  <a:srgbClr val="BFC6D0"/>
                </a:solidFill>
                <a:latin typeface="Pretendard"/>
              </a:rPr>
              <a:t>배경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방법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1" sz="1250">
                <a:solidFill>
                  <a:srgbClr val="1D4ED8"/>
                </a:solidFill>
                <a:latin typeface="Pretendard"/>
              </a:rPr>
              <a:t>결과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b="1" sz="2100">
                <a:solidFill>
                  <a:srgbClr val="111827"/>
                </a:solidFill>
                <a:latin typeface="Pretendard"/>
              </a:rPr>
              <a:t>LSTM은 </a:t>
            </a:r>
            <a:r>
              <a:rPr b="1" sz="2100">
                <a:solidFill>
                  <a:srgbClr val="6B7280"/>
                </a:solidFill>
                <a:latin typeface="Pretendard"/>
              </a:rPr>
              <a:t>25%에서 포화</a:t>
            </a:r>
            <a:r>
              <a:rPr b="1" sz="2100">
                <a:solidFill>
                  <a:srgbClr val="111827"/>
                </a:solidFill>
                <a:latin typeface="Pretendard"/>
              </a:rPr>
              <a:t>, Transformer는 </a:t>
            </a:r>
            <a:r>
              <a:rPr b="1" sz="2100">
                <a:solidFill>
                  <a:srgbClr val="1D4ED8"/>
                </a:solidFill>
                <a:latin typeface="Pretendard"/>
              </a:rPr>
              <a:t>계속 향상</a:t>
            </a:r>
          </a:p>
        </p:txBody>
      </p:sp>
      <p:pic>
        <p:nvPicPr>
          <p:cNvPr id="4" name="Picture 3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888"/>
            <a:ext cx="6492240" cy="38123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600200"/>
            <a:ext cx="451073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b="1" sz="1550">
                <a:solidFill>
                  <a:srgbClr val="1D4ED8"/>
                </a:solidFill>
                <a:latin typeface="Pretendard"/>
              </a:rPr>
              <a:t>Transformer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400">
                <a:solidFill>
                  <a:srgbClr val="1D4ED8"/>
                </a:solidFill>
                <a:latin typeface="Pretendard"/>
              </a:rPr>
              <a:t>데이터에 따라 단조 향상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400">
                <a:solidFill>
                  <a:srgbClr val="374151"/>
                </a:solidFill>
                <a:latin typeface="Pretendard"/>
              </a:rPr>
              <a:t>scaling: 더 줄수록 더 좋아짐</a:t>
            </a:r>
          </a:p>
          <a:p>
            <a:pPr>
              <a:spcBef>
                <a:spcPts val="1600"/>
              </a:spcBef>
              <a:spcAft>
                <a:spcPts val="700"/>
              </a:spcAft>
            </a:pPr>
            <a:r>
              <a:rPr b="1" sz="1550">
                <a:solidFill>
                  <a:srgbClr val="1D4ED8"/>
                </a:solidFill>
                <a:latin typeface="Pretendard"/>
              </a:rPr>
              <a:t>LSTM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400">
                <a:solidFill>
                  <a:srgbClr val="111827"/>
                </a:solidFill>
                <a:latin typeface="Pretendard"/>
              </a:rPr>
              <a:t>25%에서 정점 후 정체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400">
                <a:solidFill>
                  <a:srgbClr val="374151"/>
                </a:solidFill>
                <a:latin typeface="Pretendard"/>
              </a:rPr>
              <a:t>overfitting으로 추가 데이터를 못 씀</a:t>
            </a:r>
          </a:p>
          <a:p>
            <a:pPr>
              <a:spcBef>
                <a:spcPts val="1600"/>
              </a:spcBef>
              <a:spcAft>
                <a:spcPts val="700"/>
              </a:spcAft>
            </a:pPr>
            <a:r>
              <a:rPr b="1" sz="1550">
                <a:solidFill>
                  <a:srgbClr val="1D4ED8"/>
                </a:solidFill>
                <a:latin typeface="Pretendard"/>
              </a:rPr>
              <a:t>가설 기각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400">
                <a:solidFill>
                  <a:srgbClr val="374151"/>
                </a:solidFill>
                <a:latin typeface="Pretendard"/>
              </a:rPr>
              <a:t>'data-hungry' 가설 기각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400">
                <a:solidFill>
                  <a:srgbClr val="374151"/>
                </a:solidFill>
                <a:latin typeface="Pretendard"/>
              </a:rPr>
              <a:t>전 구간에서 Transformer 우위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50">
                <a:solidFill>
                  <a:srgbClr val="AAB2BD"/>
                </a:solidFill>
                <a:latin typeface="Pretendard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0" sz="1250">
                <a:solidFill>
                  <a:srgbClr val="BFC6D0"/>
                </a:solidFill>
                <a:latin typeface="Pretendard"/>
              </a:rPr>
              <a:t>배경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방법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1" sz="1250">
                <a:solidFill>
                  <a:srgbClr val="1D4ED8"/>
                </a:solidFill>
                <a:latin typeface="Pretendard"/>
              </a:rPr>
              <a:t>결과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b="1" sz="2100">
                <a:solidFill>
                  <a:srgbClr val="111827"/>
                </a:solidFill>
                <a:latin typeface="Pretendard"/>
              </a:rPr>
              <a:t>bag-of-words 과제, 격차는 </a:t>
            </a:r>
            <a:r>
              <a:rPr b="1" sz="2100">
                <a:solidFill>
                  <a:srgbClr val="1D4ED8"/>
                </a:solidFill>
                <a:latin typeface="Pretendard"/>
              </a:rPr>
              <a:t>순서가 아닌 robustness</a:t>
            </a:r>
          </a:p>
        </p:txBody>
      </p:sp>
      <p:pic>
        <p:nvPicPr>
          <p:cNvPr id="4" name="Picture 3" descr="fig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84" y="1325880"/>
            <a:ext cx="9215725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112772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400">
                <a:solidFill>
                  <a:srgbClr val="111827"/>
                </a:solidFill>
                <a:latin typeface="Pretendard"/>
              </a:rPr>
              <a:t>PE on/off</a:t>
            </a:r>
            <a:r>
              <a:rPr b="0" sz="1400">
                <a:solidFill>
                  <a:srgbClr val="374151"/>
                </a:solidFill>
                <a:latin typeface="Pretendard"/>
              </a:rPr>
              <a:t>  with-PE 0.910 vs no-PE 0.911 (차이 -0.001) → 순서 정보가 거의 불필요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400">
                <a:solidFill>
                  <a:srgbClr val="111827"/>
                </a:solidFill>
                <a:latin typeface="Pretendard"/>
              </a:rPr>
              <a:t>robustness</a:t>
            </a:r>
            <a:r>
              <a:rPr b="0" sz="1400">
                <a:solidFill>
                  <a:srgbClr val="374151"/>
                </a:solidFill>
                <a:latin typeface="Pretendard"/>
              </a:rPr>
              <a:t>  LSTM은 비주제어 'giddy'에 쏠려 오답, Transformer는 주제 토큰에 분산해 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50">
                <a:solidFill>
                  <a:srgbClr val="AAB2BD"/>
                </a:solidFill>
                <a:latin typeface="Pretendard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b="0" sz="1250">
                <a:solidFill>
                  <a:srgbClr val="BFC6D0"/>
                </a:solidFill>
                <a:latin typeface="Pretendard"/>
              </a:rPr>
              <a:t>배경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방법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0" sz="1250">
                <a:solidFill>
                  <a:srgbClr val="BFC6D0"/>
                </a:solidFill>
                <a:latin typeface="Pretendard"/>
              </a:rPr>
              <a:t>결과</a:t>
            </a:r>
            <a:r>
              <a:rPr b="0" sz="1250">
                <a:solidFill>
                  <a:srgbClr val="BFC6D0"/>
                </a:solidFill>
                <a:latin typeface="Pretendard"/>
              </a:rPr>
              <a:t>     </a:t>
            </a:r>
            <a:r>
              <a:rPr b="1" sz="1250">
                <a:solidFill>
                  <a:srgbClr val="1D4ED8"/>
                </a:solidFill>
                <a:latin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b="1" sz="2100">
                <a:solidFill>
                  <a:srgbClr val="111827"/>
                </a:solidFill>
                <a:latin typeface="Pretendard"/>
              </a:rPr>
              <a:t>동일 조건에서 </a:t>
            </a:r>
            <a:r>
              <a:rPr b="1" sz="2100">
                <a:solidFill>
                  <a:srgbClr val="1D4ED8"/>
                </a:solidFill>
                <a:latin typeface="Pretendard"/>
              </a:rPr>
              <a:t>Transformer 우수</a:t>
            </a:r>
            <a:r>
              <a:rPr b="1" sz="2100">
                <a:solidFill>
                  <a:srgbClr val="111827"/>
                </a:solidFill>
                <a:latin typeface="Pretendard"/>
              </a:rPr>
              <a:t>, 원인은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성능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동일 조건에서 test accuracy </a:t>
            </a:r>
            <a:r>
              <a:rPr b="1" sz="1500">
                <a:solidFill>
                  <a:srgbClr val="111827"/>
                </a:solidFill>
                <a:latin typeface="Pretendard"/>
              </a:rPr>
              <a:t>0.910 vs 0.833</a:t>
            </a:r>
            <a:r>
              <a:rPr b="0" sz="1500">
                <a:solidFill>
                  <a:srgbClr val="374151"/>
                </a:solidFill>
                <a:latin typeface="Pretendard"/>
              </a:rPr>
              <a:t> (encoder 구조만 바꾼 통제된 비교)</a:t>
            </a:r>
          </a:p>
          <a:p>
            <a:pPr>
              <a:spcBef>
                <a:spcPts val="14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원인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Pretendard"/>
              </a:rPr>
              <a:t>generalization 차이</a:t>
            </a:r>
            <a:r>
              <a:rPr b="0" sz="1500">
                <a:solidFill>
                  <a:srgbClr val="374151"/>
                </a:solidFill>
                <a:latin typeface="Pretendard"/>
              </a:rPr>
              <a:t>: LSTM은 overfitting하여 25%에서 포화, Transformer는 안정적으로 확장</a:t>
            </a:r>
          </a:p>
          <a:p>
            <a:pPr>
              <a:spcBef>
                <a:spcPts val="14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과제 성격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Pretendard"/>
              </a:rPr>
              <a:t>bag-of-words</a:t>
            </a:r>
            <a:r>
              <a:rPr b="0" sz="1500">
                <a:solidFill>
                  <a:srgbClr val="374151"/>
                </a:solidFill>
                <a:latin typeface="Pretendard"/>
              </a:rPr>
              <a:t>: positional encoding 제거해도 정확도 동일 → 격차는 순서가 아닌 robustness</a:t>
            </a:r>
          </a:p>
          <a:p>
            <a:pPr>
              <a:spcBef>
                <a:spcPts val="1400"/>
              </a:spcBef>
              <a:spcAft>
                <a:spcPts val="700"/>
              </a:spcAft>
            </a:pPr>
            <a:r>
              <a:rPr b="1" sz="1650">
                <a:solidFill>
                  <a:srgbClr val="1D4ED8"/>
                </a:solidFill>
                <a:latin typeface="Pretendard"/>
              </a:rPr>
              <a:t>한계 · 향후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단일 seed → 다중 seed 재확인, LSTM regularization 강화</a:t>
            </a:r>
          </a:p>
          <a:p>
            <a:pPr marL="274320" indent="-274320">
              <a:lnSpc>
                <a:spcPct val="125000"/>
              </a:lnSpc>
              <a:spcAft>
                <a:spcPts val="500"/>
              </a:spcAft>
              <a:buFont typeface="Arial"/>
              <a:buChar char="•"/>
            </a:pPr>
            <a:r>
              <a:rPr b="0" sz="1500">
                <a:solidFill>
                  <a:srgbClr val="374151"/>
                </a:solidFill>
                <a:latin typeface="Pretendard"/>
              </a:rPr>
              <a:t>순서가 중요한 과제에서 positional encoding 재검증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1052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50">
                <a:solidFill>
                  <a:srgbClr val="AAB2BD"/>
                </a:solidFill>
                <a:latin typeface="Pretendard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