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2179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DEEP LEARNING · TERM PROJECT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625535" y="6217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097280"/>
            <a:ext cx="1054577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7452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LSTM </a:t>
            </a:r>
            <a:pPr indent="0" marL="0">
              <a:buNone/>
            </a:pPr>
            <a:r>
              <a:rPr lang="en-US" sz="50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vs</a:t>
            </a:r>
            <a:pPr indent="0" marL="0">
              <a:buNone/>
            </a:pPr>
            <a:r>
              <a:rPr lang="en-US" sz="5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Transformer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822960" y="2907792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Encoder, 텍스트 분류에서의 통제된 비교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822960" y="385876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 News 4-class 주제 분류, 두 시퀀스 인코더를 동일 조건에서 비교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822960" y="4956048"/>
            <a:ext cx="1054577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24865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40280" y="5230368"/>
            <a:ext cx="9128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장지훈</a:t>
            </a:r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(ETRI School · 02521122)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581558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240280" y="5797296"/>
            <a:ext cx="9128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7415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과학기술연합대학원대학교 ETRI 스쿨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정확도 경쟁이 아니라,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구조가 왜 다른지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규명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 News 4-class 뉴스 주제 분류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(World·Sports·Business·Sci-Tech)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LSTM과 Transformer Encoder를 모두 from scratch로 학습</a:t>
            </a:r>
            <a:endParaRPr lang="en-US" sz="1650" dirty="0"/>
          </a:p>
          <a:p>
            <a:pPr indent="0" marL="0">
              <a:spcBef>
                <a:spcPts val="18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데이터·전처리·어휘·시퀀스 길이·학습 예산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을 동일하게 고정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encoder 구조만 유일한 변수로 둔다</a:t>
            </a:r>
            <a:endParaRPr lang="en-US" sz="1650" dirty="0"/>
          </a:p>
          <a:p>
            <a:pPr indent="0" marL="0">
              <a:spcBef>
                <a:spcPts val="18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성능·수렴·data efficiency·오분류 양상이 어떻게 다른가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그리고 그 차이의 원인은 무엇인가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10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balanced 4-class, 어휘는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train에서만 구축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(leakage 방지)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분할 (seed 42)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Train 108,000 / Validation 12,000 / Test 7,600</a:t>
            </a:r>
            <a:endParaRPr lang="en-US" sz="1650" dirty="0"/>
          </a:p>
          <a:p>
            <a:pPr indent="0" marL="0">
              <a:spcBef>
                <a:spcPts val="16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클래스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World, Sports, Business, Sci-Tech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4개, balanced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train 약 27,000 / test 1,900 each</a:t>
            </a:r>
            <a:endParaRPr lang="en-US" sz="1650" dirty="0"/>
          </a:p>
          <a:p>
            <a:pPr indent="0" marL="0">
              <a:spcBef>
                <a:spcPts val="16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전처리 (두 모델 공통)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단어 단위 tokenization (소문자화)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vocabulary: train-only, 상한 20,000, min frequency 2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max length 128, padding 위치는 masking으로 무시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10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 골격,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encoder만 교체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공유 골격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Embedding(128) → Encoder → masked mean pooling → Linear(4)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encoder 한 조각만 교체, 나머지는 모두 동일</a:t>
            </a:r>
            <a:endParaRPr lang="en-US" sz="1650" dirty="0"/>
          </a:p>
          <a:p>
            <a:pPr indent="0" marL="0">
              <a:spcBef>
                <a:spcPts val="17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encoder 비교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LSTM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bidirectional · 2 layers · hidden 128 / output 256 / params 3,220,484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Transformer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layers · 4 heads · FFN 256 · sinusoidal PE / dim 128 / params 2,825,476</a:t>
            </a:r>
            <a:endParaRPr lang="en-US" sz="1650" dirty="0"/>
          </a:p>
          <a:p>
            <a:pPr indent="0" marL="0">
              <a:spcBef>
                <a:spcPts val="17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파라미터 규모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임베딩이 지배적이라 두 모델 파라미터는 약 14% 차로 비슷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 / 10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유일한 변수 =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encoder 구조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(나머지 전부 고정)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고정 (fair comparison)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· tokenizer · vocabulary · max length · pooling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optimizer · learning rate · batch size · epoch · seed</a:t>
            </a:r>
            <a:endParaRPr lang="en-US" sz="1650" dirty="0"/>
          </a:p>
          <a:p>
            <a:pPr indent="0" marL="0">
              <a:spcBef>
                <a:spcPts val="16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Adam, learning rate 0.001, batch 64, 최대 8 epochs, dropout 0.1, seed 42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model selection은 validation, test는 1회</a:t>
            </a:r>
            <a:endParaRPr lang="en-US" sz="1650" dirty="0"/>
          </a:p>
          <a:p>
            <a:pPr indent="0" marL="0">
              <a:spcBef>
                <a:spcPts val="16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Ablation · 지표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training set 5 / 25 / 50 / 100%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(vocabulary 고정, stratified, val·test 전체)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accuracy · macro F1-score · loss curve · confusion matrix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10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Transformer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0.910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vs LSTM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0.833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격차의 원인은 overfitting</a:t>
            </a:r>
            <a:endParaRPr lang="en-US" sz="2100" dirty="0"/>
          </a:p>
        </p:txBody>
      </p:sp>
      <p:pic>
        <p:nvPicPr>
          <p:cNvPr id="4" name="Image 0" descr="/Users/jihunjang/workspace/ust/deeplearning2/term-project-lstm-vs-transformer-agnews/redesign/fig_lo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7295" cy="3886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440680"/>
            <a:ext cx="112772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indent="0" marL="0">
              <a:buNone/>
            </a:pPr>
            <a:r>
              <a:rPr lang="en-US" sz="11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Transformer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test accuracy 0.910 · macro F1 0.909</a:t>
            </a:r>
            <a:endParaRPr lang="en-US" sz="1150" dirty="0"/>
          </a:p>
          <a:p>
            <a:pPr lvl="1" indent="0" marL="0">
              <a:buNone/>
            </a:pPr>
            <a:r>
              <a:rPr lang="en-US" sz="11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LSTM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0.833 · macro F1 0.835, val loss 폭증으로 best epoch 2 저장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10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모델 공통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Business ↔ Sci/Tech 혼동</a:t>
            </a:r>
            <a:endParaRPr lang="en-US" sz="2100" dirty="0"/>
          </a:p>
        </p:txBody>
      </p:sp>
      <p:pic>
        <p:nvPicPr>
          <p:cNvPr id="4" name="Image 0" descr="/Users/jihunjang/workspace/ust/deeplearning2/term-project-lstm-vs-transformer-agnews/redesign/fig_confu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7295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257800"/>
            <a:ext cx="112772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indent="0" marL="0">
              <a:buNone/>
            </a:pPr>
            <a:r>
              <a:rPr lang="en-US" sz="11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공통 오답 428건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61%가 Business/Sci-Tech 경계 (의미 중첩에 따른 모호성)</a:t>
            </a:r>
            <a:endParaRPr lang="en-US" sz="1150" dirty="0"/>
          </a:p>
          <a:p>
            <a:pPr lvl="1" indent="0" marL="0">
              <a:buNone/>
            </a:pPr>
            <a:r>
              <a:rPr lang="en-US" sz="11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LSTM 단독 841건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class에 분산, Transformer 단독(259건)의 3.2배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10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LSTM은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25%에서 포화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Transformer는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계속 향상</a:t>
            </a:r>
            <a:endParaRPr lang="en-US" sz="2100" dirty="0"/>
          </a:p>
        </p:txBody>
      </p:sp>
      <p:pic>
        <p:nvPicPr>
          <p:cNvPr id="4" name="Image 0" descr="/Users/jihunjang/workspace/ust/deeplearning2/term-project-lstm-vs-transformer-agnews/redesign/fig_abl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554480"/>
            <a:ext cx="6492240" cy="43891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23760" y="1600200"/>
            <a:ext cx="451073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Transformer</a:t>
            </a:r>
            <a:endParaRPr lang="en-US" sz="1550" dirty="0"/>
          </a:p>
          <a:p>
            <a:pPr lvl="1" indent="0" marL="0">
              <a:buNone/>
            </a:pPr>
            <a:r>
              <a:rPr lang="en-US" sz="11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데이터에 따라 단조 향상</a:t>
            </a:r>
            <a:endParaRPr lang="en-US" sz="1550" dirty="0"/>
          </a:p>
          <a:p>
            <a:pPr lvl="1" indent="0" marL="0">
              <a:buNone/>
            </a:pPr>
            <a:r>
              <a:rPr lang="en-US" sz="11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scaling: 더 줄수록 더 좋아짐</a:t>
            </a:r>
            <a:endParaRPr lang="en-US" sz="1550" dirty="0"/>
          </a:p>
          <a:p>
            <a:pPr indent="0" marL="0">
              <a:spcBef>
                <a:spcPts val="1600"/>
              </a:spcBef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LSTM</a:t>
            </a:r>
            <a:endParaRPr lang="en-US" sz="1550" dirty="0"/>
          </a:p>
          <a:p>
            <a:pPr lvl="1" indent="0" marL="0">
              <a:buNone/>
            </a:pPr>
            <a:r>
              <a:rPr lang="en-US" sz="11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25%에서 정점 후 정체</a:t>
            </a:r>
            <a:endParaRPr lang="en-US" sz="1550" dirty="0"/>
          </a:p>
          <a:p>
            <a:pPr lvl="1" indent="0" marL="0">
              <a:buNone/>
            </a:pPr>
            <a:r>
              <a:rPr lang="en-US" sz="11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overfitting으로 추가 데이터를 못 씀</a:t>
            </a:r>
            <a:endParaRPr lang="en-US" sz="1550" dirty="0"/>
          </a:p>
          <a:p>
            <a:pPr indent="0" marL="0">
              <a:spcBef>
                <a:spcPts val="1600"/>
              </a:spcBef>
              <a:spcAft>
                <a:spcPts val="700"/>
              </a:spcAft>
              <a:buNone/>
            </a:pPr>
            <a:r>
              <a:rPr lang="en-US" sz="15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가설 기각</a:t>
            </a:r>
            <a:endParaRPr lang="en-US" sz="1550" dirty="0"/>
          </a:p>
          <a:p>
            <a:pPr lvl="1" indent="0" marL="0">
              <a:buNone/>
            </a:pPr>
            <a:r>
              <a:rPr lang="en-US" sz="11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'data-hungry' 가설 기각</a:t>
            </a:r>
            <a:endParaRPr lang="en-US" sz="1550" dirty="0"/>
          </a:p>
          <a:p>
            <a:pPr lvl="1" indent="0" marL="0">
              <a:buNone/>
            </a:pPr>
            <a:r>
              <a:rPr lang="en-US" sz="11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구간에서 Transformer 우위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10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bag-of-words 과제, 격차는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순서가 아닌 robustness</a:t>
            </a:r>
            <a:endParaRPr lang="en-US" sz="2100" dirty="0"/>
          </a:p>
        </p:txBody>
      </p:sp>
      <p:pic>
        <p:nvPicPr>
          <p:cNvPr id="4" name="Image 0" descr="/Users/jihunjang/workspace/ust/deeplearning2/term-project-lstm-vs-transformer-agnews/redesign/fig_mechanis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25880"/>
            <a:ext cx="11277295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00600"/>
            <a:ext cx="112772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indent="0" marL="0">
              <a:buNone/>
            </a:pPr>
            <a:r>
              <a:rPr lang="en-US" sz="11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 on/off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with-PE 0.910 vs no-PE 0.911 (차이 -0.001) → 순서 정보가 거의 불필요</a:t>
            </a:r>
            <a:endParaRPr lang="en-US" sz="1150" dirty="0"/>
          </a:p>
          <a:p>
            <a:pPr lvl="1" indent="0" marL="0">
              <a:buNone/>
            </a:pPr>
            <a:r>
              <a:rPr lang="en-US" sz="11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robustness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LSTM은 비주제어 'giddy'에 쏠려 오답, Transformer는 주제 토큰에 분산하여 정답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 / 10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배경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</a:t>
            </a:r>
            <a:pPr indent="0" marL="0">
              <a:buNone/>
            </a:pPr>
            <a:r>
              <a:rPr lang="en-US" sz="1250" dirty="0">
                <a:solidFill>
                  <a:srgbClr val="BFC6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</a:t>
            </a:r>
            <a:pPr indent="0" marL="0">
              <a:buNone/>
            </a:pPr>
            <a:r>
              <a:rPr lang="en-US" sz="12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조건에서 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Transformer 우수</a:t>
            </a:r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, 원인은 generalization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성능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조건에서 test accuracy 0.910 vs 0.833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(encoder 구조만 바꾼 통제된 비교)</a:t>
            </a:r>
            <a:endParaRPr lang="en-US" sz="1650" dirty="0"/>
          </a:p>
          <a:p>
            <a:pPr indent="0" marL="0">
              <a:spcBef>
                <a:spcPts val="15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generalization 차이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LSTM은 overfitting하여 25%에서 포화, Transformer는 안정적으로 확장</a:t>
            </a:r>
            <a:endParaRPr lang="en-US" sz="1650" dirty="0"/>
          </a:p>
          <a:p>
            <a:pPr indent="0" marL="0">
              <a:spcBef>
                <a:spcPts val="15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 성격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bag-of-words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: positional encoding 제거해도 정확도 동일 → 격차는 순서가 아닌 robustness</a:t>
            </a:r>
            <a:endParaRPr lang="en-US" sz="1650" dirty="0"/>
          </a:p>
          <a:p>
            <a:pPr indent="0" marL="0">
              <a:spcBef>
                <a:spcPts val="1500"/>
              </a:spcBef>
              <a:spcAft>
                <a:spcPts val="700"/>
              </a:spcAft>
              <a:buNone/>
            </a:pPr>
            <a:r>
              <a:rPr lang="en-US" sz="16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 · 향후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seed → 다중 seed 재확인, LSTM regularization 강화</a:t>
            </a:r>
            <a:endParaRPr lang="en-US" sz="1650" dirty="0"/>
          </a:p>
          <a:p>
            <a:pPr lvl="1" indent="0" marL="0">
              <a:buNone/>
            </a:pPr>
            <a:r>
              <a:rPr lang="en-US" sz="1250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  </a:t>
            </a:r>
            <a:pPr lvl="1" indent="0" marL="0">
              <a:lnSpc>
                <a:spcPct val="12000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순서가 중요한 과제에서 positional encoding 재검증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AAB2B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장지훈</dc:creator>
  <cp:lastModifiedBy>장지훈</cp:lastModifiedBy>
  <cp:revision>1</cp:revision>
  <dcterms:created xsi:type="dcterms:W3CDTF">2026-06-20T02:31:44Z</dcterms:created>
  <dcterms:modified xsi:type="dcterms:W3CDTF">2026-06-20T02:31:44Z</dcterms:modified>
</cp:coreProperties>
</file>